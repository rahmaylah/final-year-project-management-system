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7" r:id="rId3"/>
    <p:sldId id="259" r:id="rId4"/>
    <p:sldId id="258" r:id="rId5"/>
    <p:sldId id="260" r:id="rId6"/>
    <p:sldId id="261" r:id="rId7"/>
    <p:sldId id="266" r:id="rId8"/>
    <p:sldId id="267" r:id="rId9"/>
    <p:sldId id="268" r:id="rId10"/>
    <p:sldId id="270" r:id="rId11"/>
    <p:sldId id="269" r:id="rId12"/>
    <p:sldId id="271" r:id="rId13"/>
    <p:sldId id="272" r:id="rId14"/>
    <p:sldId id="262" r:id="rId15"/>
    <p:sldId id="26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1" d="100"/>
          <a:sy n="71" d="100"/>
        </p:scale>
        <p:origin x="696"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DBFFF-492A-48EB-8C03-E1BBD88430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43BDD6-8CB1-42F1-856F-4A8479D511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D2FB57-F4D1-4B7C-84B8-6982052F6F90}"/>
              </a:ext>
            </a:extLst>
          </p:cNvPr>
          <p:cNvSpPr>
            <a:spLocks noGrp="1"/>
          </p:cNvSpPr>
          <p:nvPr>
            <p:ph type="dt" sz="half" idx="10"/>
          </p:nvPr>
        </p:nvSpPr>
        <p:spPr/>
        <p:txBody>
          <a:bodyPr/>
          <a:lstStyle/>
          <a:p>
            <a:fld id="{D650F3DE-0C98-4F16-8945-70CF95A3BFF3}" type="datetimeFigureOut">
              <a:rPr lang="en-US" smtClean="0"/>
              <a:t>3/19/2026</a:t>
            </a:fld>
            <a:endParaRPr lang="en-US"/>
          </a:p>
        </p:txBody>
      </p:sp>
      <p:sp>
        <p:nvSpPr>
          <p:cNvPr id="5" name="Footer Placeholder 4">
            <a:extLst>
              <a:ext uri="{FF2B5EF4-FFF2-40B4-BE49-F238E27FC236}">
                <a16:creationId xmlns:a16="http://schemas.microsoft.com/office/drawing/2014/main" id="{87941C97-A2DD-4A8B-9C40-32EBF84DB1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CA18B1-8714-4B74-B186-B406F5831CD0}"/>
              </a:ext>
            </a:extLst>
          </p:cNvPr>
          <p:cNvSpPr>
            <a:spLocks noGrp="1"/>
          </p:cNvSpPr>
          <p:nvPr>
            <p:ph type="sldNum" sz="quarter" idx="12"/>
          </p:nvPr>
        </p:nvSpPr>
        <p:spPr/>
        <p:txBody>
          <a:bodyPr/>
          <a:lstStyle/>
          <a:p>
            <a:fld id="{2204555C-3F01-4E04-BD0D-6B0D9BC21DE5}" type="slidenum">
              <a:rPr lang="en-US" smtClean="0"/>
              <a:t>‹#›</a:t>
            </a:fld>
            <a:endParaRPr lang="en-US"/>
          </a:p>
        </p:txBody>
      </p:sp>
    </p:spTree>
    <p:extLst>
      <p:ext uri="{BB962C8B-B14F-4D97-AF65-F5344CB8AC3E}">
        <p14:creationId xmlns:p14="http://schemas.microsoft.com/office/powerpoint/2010/main" val="1682377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231CA-5F99-49FA-978E-2238CC817F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D4E4AB-BA9C-4C8A-A5C1-430D97FA1E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8AA7B5-5476-44E9-A7EC-FA092C24DADB}"/>
              </a:ext>
            </a:extLst>
          </p:cNvPr>
          <p:cNvSpPr>
            <a:spLocks noGrp="1"/>
          </p:cNvSpPr>
          <p:nvPr>
            <p:ph type="dt" sz="half" idx="10"/>
          </p:nvPr>
        </p:nvSpPr>
        <p:spPr/>
        <p:txBody>
          <a:bodyPr/>
          <a:lstStyle/>
          <a:p>
            <a:fld id="{D650F3DE-0C98-4F16-8945-70CF95A3BFF3}" type="datetimeFigureOut">
              <a:rPr lang="en-US" smtClean="0"/>
              <a:t>3/19/2026</a:t>
            </a:fld>
            <a:endParaRPr lang="en-US"/>
          </a:p>
        </p:txBody>
      </p:sp>
      <p:sp>
        <p:nvSpPr>
          <p:cNvPr id="5" name="Footer Placeholder 4">
            <a:extLst>
              <a:ext uri="{FF2B5EF4-FFF2-40B4-BE49-F238E27FC236}">
                <a16:creationId xmlns:a16="http://schemas.microsoft.com/office/drawing/2014/main" id="{F2253E20-7FA7-467C-BA92-825FC7A586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F65368-6C21-4074-A72E-61EBB9C53410}"/>
              </a:ext>
            </a:extLst>
          </p:cNvPr>
          <p:cNvSpPr>
            <a:spLocks noGrp="1"/>
          </p:cNvSpPr>
          <p:nvPr>
            <p:ph type="sldNum" sz="quarter" idx="12"/>
          </p:nvPr>
        </p:nvSpPr>
        <p:spPr/>
        <p:txBody>
          <a:bodyPr/>
          <a:lstStyle/>
          <a:p>
            <a:fld id="{2204555C-3F01-4E04-BD0D-6B0D9BC21DE5}" type="slidenum">
              <a:rPr lang="en-US" smtClean="0"/>
              <a:t>‹#›</a:t>
            </a:fld>
            <a:endParaRPr lang="en-US"/>
          </a:p>
        </p:txBody>
      </p:sp>
    </p:spTree>
    <p:extLst>
      <p:ext uri="{BB962C8B-B14F-4D97-AF65-F5344CB8AC3E}">
        <p14:creationId xmlns:p14="http://schemas.microsoft.com/office/powerpoint/2010/main" val="3116488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C6FB1-1E05-4716-BC61-81B75D4DD5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ADC63C-DF94-4665-85C3-4DCB93C9EA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B6B38D-1275-49CC-8C49-4811CD5D2F4B}"/>
              </a:ext>
            </a:extLst>
          </p:cNvPr>
          <p:cNvSpPr>
            <a:spLocks noGrp="1"/>
          </p:cNvSpPr>
          <p:nvPr>
            <p:ph type="dt" sz="half" idx="10"/>
          </p:nvPr>
        </p:nvSpPr>
        <p:spPr/>
        <p:txBody>
          <a:bodyPr/>
          <a:lstStyle/>
          <a:p>
            <a:fld id="{D650F3DE-0C98-4F16-8945-70CF95A3BFF3}" type="datetimeFigureOut">
              <a:rPr lang="en-US" smtClean="0"/>
              <a:t>3/19/2026</a:t>
            </a:fld>
            <a:endParaRPr lang="en-US"/>
          </a:p>
        </p:txBody>
      </p:sp>
      <p:sp>
        <p:nvSpPr>
          <p:cNvPr id="5" name="Footer Placeholder 4">
            <a:extLst>
              <a:ext uri="{FF2B5EF4-FFF2-40B4-BE49-F238E27FC236}">
                <a16:creationId xmlns:a16="http://schemas.microsoft.com/office/drawing/2014/main" id="{21E6AE17-FEC3-4831-874E-CA993EE8F1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307C5E-C5EA-42FC-BA12-A8F2BDEB8A2C}"/>
              </a:ext>
            </a:extLst>
          </p:cNvPr>
          <p:cNvSpPr>
            <a:spLocks noGrp="1"/>
          </p:cNvSpPr>
          <p:nvPr>
            <p:ph type="sldNum" sz="quarter" idx="12"/>
          </p:nvPr>
        </p:nvSpPr>
        <p:spPr/>
        <p:txBody>
          <a:bodyPr/>
          <a:lstStyle/>
          <a:p>
            <a:fld id="{2204555C-3F01-4E04-BD0D-6B0D9BC21DE5}" type="slidenum">
              <a:rPr lang="en-US" smtClean="0"/>
              <a:t>‹#›</a:t>
            </a:fld>
            <a:endParaRPr lang="en-US"/>
          </a:p>
        </p:txBody>
      </p:sp>
    </p:spTree>
    <p:extLst>
      <p:ext uri="{BB962C8B-B14F-4D97-AF65-F5344CB8AC3E}">
        <p14:creationId xmlns:p14="http://schemas.microsoft.com/office/powerpoint/2010/main" val="4254698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B13C0-7A05-4983-86DB-FCF336789F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46818E-CA7A-4ECB-9BAE-5D6EDCD677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303540-8526-48D9-8681-5C1D4CDC23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C5ADA2-D234-4C5A-AC96-84E1DFA773DE}"/>
              </a:ext>
            </a:extLst>
          </p:cNvPr>
          <p:cNvSpPr>
            <a:spLocks noGrp="1"/>
          </p:cNvSpPr>
          <p:nvPr>
            <p:ph type="dt" sz="half" idx="10"/>
          </p:nvPr>
        </p:nvSpPr>
        <p:spPr/>
        <p:txBody>
          <a:bodyPr/>
          <a:lstStyle/>
          <a:p>
            <a:fld id="{D650F3DE-0C98-4F16-8945-70CF95A3BFF3}" type="datetimeFigureOut">
              <a:rPr lang="en-US" smtClean="0"/>
              <a:t>3/19/2026</a:t>
            </a:fld>
            <a:endParaRPr lang="en-US"/>
          </a:p>
        </p:txBody>
      </p:sp>
      <p:sp>
        <p:nvSpPr>
          <p:cNvPr id="6" name="Footer Placeholder 5">
            <a:extLst>
              <a:ext uri="{FF2B5EF4-FFF2-40B4-BE49-F238E27FC236}">
                <a16:creationId xmlns:a16="http://schemas.microsoft.com/office/drawing/2014/main" id="{63170911-C19D-4642-847B-7A4F6C2E69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E51A0-FF58-4C55-B5AD-F9982577639F}"/>
              </a:ext>
            </a:extLst>
          </p:cNvPr>
          <p:cNvSpPr>
            <a:spLocks noGrp="1"/>
          </p:cNvSpPr>
          <p:nvPr>
            <p:ph type="sldNum" sz="quarter" idx="12"/>
          </p:nvPr>
        </p:nvSpPr>
        <p:spPr/>
        <p:txBody>
          <a:bodyPr/>
          <a:lstStyle/>
          <a:p>
            <a:fld id="{2204555C-3F01-4E04-BD0D-6B0D9BC21DE5}" type="slidenum">
              <a:rPr lang="en-US" smtClean="0"/>
              <a:t>‹#›</a:t>
            </a:fld>
            <a:endParaRPr lang="en-US"/>
          </a:p>
        </p:txBody>
      </p:sp>
    </p:spTree>
    <p:extLst>
      <p:ext uri="{BB962C8B-B14F-4D97-AF65-F5344CB8AC3E}">
        <p14:creationId xmlns:p14="http://schemas.microsoft.com/office/powerpoint/2010/main" val="3778649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489AF-B6CD-4342-A628-C3C997A6046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EDD276-078B-4782-B871-C94EADF5CA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AC9309-7F7D-4AED-BCF2-107C897051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3B2867-802E-45AF-A0D6-5BBCD7C182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569FC3-C67F-4913-9C08-15410160BB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6838E53-98FA-414F-92AF-9F23755DAC1F}"/>
              </a:ext>
            </a:extLst>
          </p:cNvPr>
          <p:cNvSpPr>
            <a:spLocks noGrp="1"/>
          </p:cNvSpPr>
          <p:nvPr>
            <p:ph type="dt" sz="half" idx="10"/>
          </p:nvPr>
        </p:nvSpPr>
        <p:spPr/>
        <p:txBody>
          <a:bodyPr/>
          <a:lstStyle/>
          <a:p>
            <a:fld id="{D650F3DE-0C98-4F16-8945-70CF95A3BFF3}" type="datetimeFigureOut">
              <a:rPr lang="en-US" smtClean="0"/>
              <a:t>3/19/2026</a:t>
            </a:fld>
            <a:endParaRPr lang="en-US"/>
          </a:p>
        </p:txBody>
      </p:sp>
      <p:sp>
        <p:nvSpPr>
          <p:cNvPr id="8" name="Footer Placeholder 7">
            <a:extLst>
              <a:ext uri="{FF2B5EF4-FFF2-40B4-BE49-F238E27FC236}">
                <a16:creationId xmlns:a16="http://schemas.microsoft.com/office/drawing/2014/main" id="{F6250FE4-1F3E-41DC-869C-D8F1E9B48E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9378C-C267-451E-AD00-11DF08F82FFF}"/>
              </a:ext>
            </a:extLst>
          </p:cNvPr>
          <p:cNvSpPr>
            <a:spLocks noGrp="1"/>
          </p:cNvSpPr>
          <p:nvPr>
            <p:ph type="sldNum" sz="quarter" idx="12"/>
          </p:nvPr>
        </p:nvSpPr>
        <p:spPr/>
        <p:txBody>
          <a:bodyPr/>
          <a:lstStyle/>
          <a:p>
            <a:fld id="{2204555C-3F01-4E04-BD0D-6B0D9BC21DE5}" type="slidenum">
              <a:rPr lang="en-US" smtClean="0"/>
              <a:t>‹#›</a:t>
            </a:fld>
            <a:endParaRPr lang="en-US"/>
          </a:p>
        </p:txBody>
      </p:sp>
    </p:spTree>
    <p:extLst>
      <p:ext uri="{BB962C8B-B14F-4D97-AF65-F5344CB8AC3E}">
        <p14:creationId xmlns:p14="http://schemas.microsoft.com/office/powerpoint/2010/main" val="828195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2879D-71B5-4B01-B106-4947080BE05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28419C-5E9A-44FD-BCA3-768C02DFB987}"/>
              </a:ext>
            </a:extLst>
          </p:cNvPr>
          <p:cNvSpPr>
            <a:spLocks noGrp="1"/>
          </p:cNvSpPr>
          <p:nvPr>
            <p:ph type="dt" sz="half" idx="10"/>
          </p:nvPr>
        </p:nvSpPr>
        <p:spPr/>
        <p:txBody>
          <a:bodyPr/>
          <a:lstStyle/>
          <a:p>
            <a:fld id="{D650F3DE-0C98-4F16-8945-70CF95A3BFF3}" type="datetimeFigureOut">
              <a:rPr lang="en-US" smtClean="0"/>
              <a:t>3/19/2026</a:t>
            </a:fld>
            <a:endParaRPr lang="en-US"/>
          </a:p>
        </p:txBody>
      </p:sp>
      <p:sp>
        <p:nvSpPr>
          <p:cNvPr id="4" name="Footer Placeholder 3">
            <a:extLst>
              <a:ext uri="{FF2B5EF4-FFF2-40B4-BE49-F238E27FC236}">
                <a16:creationId xmlns:a16="http://schemas.microsoft.com/office/drawing/2014/main" id="{B8123AC3-EF09-4641-BCE4-6DE19268D19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76C34F-916E-4348-867F-4BABCFC22965}"/>
              </a:ext>
            </a:extLst>
          </p:cNvPr>
          <p:cNvSpPr>
            <a:spLocks noGrp="1"/>
          </p:cNvSpPr>
          <p:nvPr>
            <p:ph type="sldNum" sz="quarter" idx="12"/>
          </p:nvPr>
        </p:nvSpPr>
        <p:spPr/>
        <p:txBody>
          <a:bodyPr/>
          <a:lstStyle/>
          <a:p>
            <a:fld id="{2204555C-3F01-4E04-BD0D-6B0D9BC21DE5}" type="slidenum">
              <a:rPr lang="en-US" smtClean="0"/>
              <a:t>‹#›</a:t>
            </a:fld>
            <a:endParaRPr lang="en-US"/>
          </a:p>
        </p:txBody>
      </p:sp>
    </p:spTree>
    <p:extLst>
      <p:ext uri="{BB962C8B-B14F-4D97-AF65-F5344CB8AC3E}">
        <p14:creationId xmlns:p14="http://schemas.microsoft.com/office/powerpoint/2010/main" val="3409834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97757E-A138-456A-A8B6-EE2CC2CDFEF1}"/>
              </a:ext>
            </a:extLst>
          </p:cNvPr>
          <p:cNvSpPr>
            <a:spLocks noGrp="1"/>
          </p:cNvSpPr>
          <p:nvPr>
            <p:ph type="dt" sz="half" idx="10"/>
          </p:nvPr>
        </p:nvSpPr>
        <p:spPr/>
        <p:txBody>
          <a:bodyPr/>
          <a:lstStyle/>
          <a:p>
            <a:fld id="{D650F3DE-0C98-4F16-8945-70CF95A3BFF3}" type="datetimeFigureOut">
              <a:rPr lang="en-US" smtClean="0"/>
              <a:t>3/19/2026</a:t>
            </a:fld>
            <a:endParaRPr lang="en-US"/>
          </a:p>
        </p:txBody>
      </p:sp>
      <p:sp>
        <p:nvSpPr>
          <p:cNvPr id="3" name="Footer Placeholder 2">
            <a:extLst>
              <a:ext uri="{FF2B5EF4-FFF2-40B4-BE49-F238E27FC236}">
                <a16:creationId xmlns:a16="http://schemas.microsoft.com/office/drawing/2014/main" id="{46BFD0A8-B980-4BEB-BBD0-8BD435BB919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14749A-0101-4FDF-B66B-743E4381BB66}"/>
              </a:ext>
            </a:extLst>
          </p:cNvPr>
          <p:cNvSpPr>
            <a:spLocks noGrp="1"/>
          </p:cNvSpPr>
          <p:nvPr>
            <p:ph type="sldNum" sz="quarter" idx="12"/>
          </p:nvPr>
        </p:nvSpPr>
        <p:spPr/>
        <p:txBody>
          <a:bodyPr/>
          <a:lstStyle/>
          <a:p>
            <a:fld id="{2204555C-3F01-4E04-BD0D-6B0D9BC21DE5}" type="slidenum">
              <a:rPr lang="en-US" smtClean="0"/>
              <a:t>‹#›</a:t>
            </a:fld>
            <a:endParaRPr lang="en-US"/>
          </a:p>
        </p:txBody>
      </p:sp>
    </p:spTree>
    <p:extLst>
      <p:ext uri="{BB962C8B-B14F-4D97-AF65-F5344CB8AC3E}">
        <p14:creationId xmlns:p14="http://schemas.microsoft.com/office/powerpoint/2010/main" val="74130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36D0-BA16-45A8-A763-3EE9DE3843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A0BA30-FD8A-45DF-96C0-DE04619644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FAE0400-6131-4A05-B06D-F279FA7C11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5BA7F5-3C0A-4323-B237-5A8A1B09C297}"/>
              </a:ext>
            </a:extLst>
          </p:cNvPr>
          <p:cNvSpPr>
            <a:spLocks noGrp="1"/>
          </p:cNvSpPr>
          <p:nvPr>
            <p:ph type="dt" sz="half" idx="10"/>
          </p:nvPr>
        </p:nvSpPr>
        <p:spPr/>
        <p:txBody>
          <a:bodyPr/>
          <a:lstStyle/>
          <a:p>
            <a:fld id="{D650F3DE-0C98-4F16-8945-70CF95A3BFF3}" type="datetimeFigureOut">
              <a:rPr lang="en-US" smtClean="0"/>
              <a:t>3/19/2026</a:t>
            </a:fld>
            <a:endParaRPr lang="en-US"/>
          </a:p>
        </p:txBody>
      </p:sp>
      <p:sp>
        <p:nvSpPr>
          <p:cNvPr id="6" name="Footer Placeholder 5">
            <a:extLst>
              <a:ext uri="{FF2B5EF4-FFF2-40B4-BE49-F238E27FC236}">
                <a16:creationId xmlns:a16="http://schemas.microsoft.com/office/drawing/2014/main" id="{B8278D53-2CC3-4A12-8116-6BD931ECB2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F17CEB-5CCD-4B7C-B97D-5CFB91F37B30}"/>
              </a:ext>
            </a:extLst>
          </p:cNvPr>
          <p:cNvSpPr>
            <a:spLocks noGrp="1"/>
          </p:cNvSpPr>
          <p:nvPr>
            <p:ph type="sldNum" sz="quarter" idx="12"/>
          </p:nvPr>
        </p:nvSpPr>
        <p:spPr/>
        <p:txBody>
          <a:bodyPr/>
          <a:lstStyle/>
          <a:p>
            <a:fld id="{2204555C-3F01-4E04-BD0D-6B0D9BC21DE5}" type="slidenum">
              <a:rPr lang="en-US" smtClean="0"/>
              <a:t>‹#›</a:t>
            </a:fld>
            <a:endParaRPr lang="en-US"/>
          </a:p>
        </p:txBody>
      </p:sp>
    </p:spTree>
    <p:extLst>
      <p:ext uri="{BB962C8B-B14F-4D97-AF65-F5344CB8AC3E}">
        <p14:creationId xmlns:p14="http://schemas.microsoft.com/office/powerpoint/2010/main" val="532710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AF441-6A60-4338-8925-A4D5DEA015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C44E7F9-3472-4B90-BA82-17A6892C70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332DDBA-2ACF-4E6B-BD07-21BC45BA13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E1CA59-697A-4696-B9D5-F8F05E5EDF77}"/>
              </a:ext>
            </a:extLst>
          </p:cNvPr>
          <p:cNvSpPr>
            <a:spLocks noGrp="1"/>
          </p:cNvSpPr>
          <p:nvPr>
            <p:ph type="dt" sz="half" idx="10"/>
          </p:nvPr>
        </p:nvSpPr>
        <p:spPr/>
        <p:txBody>
          <a:bodyPr/>
          <a:lstStyle/>
          <a:p>
            <a:fld id="{D650F3DE-0C98-4F16-8945-70CF95A3BFF3}" type="datetimeFigureOut">
              <a:rPr lang="en-US" smtClean="0"/>
              <a:t>3/19/2026</a:t>
            </a:fld>
            <a:endParaRPr lang="en-US"/>
          </a:p>
        </p:txBody>
      </p:sp>
      <p:sp>
        <p:nvSpPr>
          <p:cNvPr id="6" name="Footer Placeholder 5">
            <a:extLst>
              <a:ext uri="{FF2B5EF4-FFF2-40B4-BE49-F238E27FC236}">
                <a16:creationId xmlns:a16="http://schemas.microsoft.com/office/drawing/2014/main" id="{9C281E1E-13D0-4824-AED0-BE23E7AAB4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8F225E-EDCC-4901-B581-7C5FA9D11D4F}"/>
              </a:ext>
            </a:extLst>
          </p:cNvPr>
          <p:cNvSpPr>
            <a:spLocks noGrp="1"/>
          </p:cNvSpPr>
          <p:nvPr>
            <p:ph type="sldNum" sz="quarter" idx="12"/>
          </p:nvPr>
        </p:nvSpPr>
        <p:spPr/>
        <p:txBody>
          <a:bodyPr/>
          <a:lstStyle/>
          <a:p>
            <a:fld id="{2204555C-3F01-4E04-BD0D-6B0D9BC21DE5}" type="slidenum">
              <a:rPr lang="en-US" smtClean="0"/>
              <a:t>‹#›</a:t>
            </a:fld>
            <a:endParaRPr lang="en-US"/>
          </a:p>
        </p:txBody>
      </p:sp>
    </p:spTree>
    <p:extLst>
      <p:ext uri="{BB962C8B-B14F-4D97-AF65-F5344CB8AC3E}">
        <p14:creationId xmlns:p14="http://schemas.microsoft.com/office/powerpoint/2010/main" val="1742819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814EA-7555-4817-A7B1-5D366D9111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38B50D4-5375-41C6-AD9F-4C584568C1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F0BD3A-035D-475D-8682-3CAEA4EA15A0}"/>
              </a:ext>
            </a:extLst>
          </p:cNvPr>
          <p:cNvSpPr>
            <a:spLocks noGrp="1"/>
          </p:cNvSpPr>
          <p:nvPr>
            <p:ph type="dt" sz="half" idx="10"/>
          </p:nvPr>
        </p:nvSpPr>
        <p:spPr/>
        <p:txBody>
          <a:bodyPr/>
          <a:lstStyle/>
          <a:p>
            <a:fld id="{D650F3DE-0C98-4F16-8945-70CF95A3BFF3}" type="datetimeFigureOut">
              <a:rPr lang="en-US" smtClean="0"/>
              <a:t>3/19/2026</a:t>
            </a:fld>
            <a:endParaRPr lang="en-US"/>
          </a:p>
        </p:txBody>
      </p:sp>
      <p:sp>
        <p:nvSpPr>
          <p:cNvPr id="5" name="Footer Placeholder 4">
            <a:extLst>
              <a:ext uri="{FF2B5EF4-FFF2-40B4-BE49-F238E27FC236}">
                <a16:creationId xmlns:a16="http://schemas.microsoft.com/office/drawing/2014/main" id="{752CA666-E604-4E5C-870B-12F97118ED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EBD511-39B0-4031-9279-445AFCEAC190}"/>
              </a:ext>
            </a:extLst>
          </p:cNvPr>
          <p:cNvSpPr>
            <a:spLocks noGrp="1"/>
          </p:cNvSpPr>
          <p:nvPr>
            <p:ph type="sldNum" sz="quarter" idx="12"/>
          </p:nvPr>
        </p:nvSpPr>
        <p:spPr/>
        <p:txBody>
          <a:bodyPr/>
          <a:lstStyle/>
          <a:p>
            <a:fld id="{2204555C-3F01-4E04-BD0D-6B0D9BC21DE5}" type="slidenum">
              <a:rPr lang="en-US" smtClean="0"/>
              <a:t>‹#›</a:t>
            </a:fld>
            <a:endParaRPr lang="en-US"/>
          </a:p>
        </p:txBody>
      </p:sp>
    </p:spTree>
    <p:extLst>
      <p:ext uri="{BB962C8B-B14F-4D97-AF65-F5344CB8AC3E}">
        <p14:creationId xmlns:p14="http://schemas.microsoft.com/office/powerpoint/2010/main" val="3489249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89BA1D-A911-4946-8FC9-1AE93596EA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0ADD3F1-9ABA-4DAD-8D9E-7864117C83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B0ABDB-40F7-4D3C-A6A6-29DA57D00D22}"/>
              </a:ext>
            </a:extLst>
          </p:cNvPr>
          <p:cNvSpPr>
            <a:spLocks noGrp="1"/>
          </p:cNvSpPr>
          <p:nvPr>
            <p:ph type="dt" sz="half" idx="10"/>
          </p:nvPr>
        </p:nvSpPr>
        <p:spPr/>
        <p:txBody>
          <a:bodyPr/>
          <a:lstStyle/>
          <a:p>
            <a:fld id="{D650F3DE-0C98-4F16-8945-70CF95A3BFF3}" type="datetimeFigureOut">
              <a:rPr lang="en-US" smtClean="0"/>
              <a:t>3/19/2026</a:t>
            </a:fld>
            <a:endParaRPr lang="en-US"/>
          </a:p>
        </p:txBody>
      </p:sp>
      <p:sp>
        <p:nvSpPr>
          <p:cNvPr id="5" name="Footer Placeholder 4">
            <a:extLst>
              <a:ext uri="{FF2B5EF4-FFF2-40B4-BE49-F238E27FC236}">
                <a16:creationId xmlns:a16="http://schemas.microsoft.com/office/drawing/2014/main" id="{2D55C541-FEB0-4271-BFD1-7C227289E2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18AA5-E022-4488-B3C2-462CB7010FB0}"/>
              </a:ext>
            </a:extLst>
          </p:cNvPr>
          <p:cNvSpPr>
            <a:spLocks noGrp="1"/>
          </p:cNvSpPr>
          <p:nvPr>
            <p:ph type="sldNum" sz="quarter" idx="12"/>
          </p:nvPr>
        </p:nvSpPr>
        <p:spPr/>
        <p:txBody>
          <a:bodyPr/>
          <a:lstStyle/>
          <a:p>
            <a:fld id="{2204555C-3F01-4E04-BD0D-6B0D9BC21DE5}" type="slidenum">
              <a:rPr lang="en-US" smtClean="0"/>
              <a:t>‹#›</a:t>
            </a:fld>
            <a:endParaRPr lang="en-US"/>
          </a:p>
        </p:txBody>
      </p:sp>
    </p:spTree>
    <p:extLst>
      <p:ext uri="{BB962C8B-B14F-4D97-AF65-F5344CB8AC3E}">
        <p14:creationId xmlns:p14="http://schemas.microsoft.com/office/powerpoint/2010/main" val="1408445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61A812-185F-4ADE-ACB7-8A39EAE6DB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0330D0D-4F80-446C-B7D0-76FDAF550C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F68525-FAE2-4CFA-B30D-B216966544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50F3DE-0C98-4F16-8945-70CF95A3BFF3}" type="datetimeFigureOut">
              <a:rPr lang="en-US" smtClean="0"/>
              <a:t>3/19/2026</a:t>
            </a:fld>
            <a:endParaRPr lang="en-US"/>
          </a:p>
        </p:txBody>
      </p:sp>
      <p:sp>
        <p:nvSpPr>
          <p:cNvPr id="5" name="Footer Placeholder 4">
            <a:extLst>
              <a:ext uri="{FF2B5EF4-FFF2-40B4-BE49-F238E27FC236}">
                <a16:creationId xmlns:a16="http://schemas.microsoft.com/office/drawing/2014/main" id="{6395B257-D3E9-406A-8645-F11622290F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0BAA305-A5C1-4708-A967-424BCF6001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04555C-3F01-4E04-BD0D-6B0D9BC21DE5}" type="slidenum">
              <a:rPr lang="en-US" smtClean="0"/>
              <a:t>‹#›</a:t>
            </a:fld>
            <a:endParaRPr lang="en-US"/>
          </a:p>
        </p:txBody>
      </p:sp>
    </p:spTree>
    <p:extLst>
      <p:ext uri="{BB962C8B-B14F-4D97-AF65-F5344CB8AC3E}">
        <p14:creationId xmlns:p14="http://schemas.microsoft.com/office/powerpoint/2010/main" val="37957830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F9502-4104-4A49-AEF0-D3270852BBC0}"/>
              </a:ext>
            </a:extLst>
          </p:cNvPr>
          <p:cNvSpPr>
            <a:spLocks noGrp="1"/>
          </p:cNvSpPr>
          <p:nvPr>
            <p:ph type="title"/>
          </p:nvPr>
        </p:nvSpPr>
        <p:spPr>
          <a:xfrm>
            <a:off x="838200" y="42395"/>
            <a:ext cx="10515600" cy="939240"/>
          </a:xfrm>
        </p:spPr>
        <p:txBody>
          <a:bodyPr>
            <a:normAutofit/>
          </a:bodyPr>
          <a:lstStyle/>
          <a:p>
            <a:r>
              <a:rPr lang="en-US" sz="3200" dirty="0">
                <a:solidFill>
                  <a:srgbClr val="FF0000"/>
                </a:solidFill>
                <a:latin typeface="Times New Roman" panose="02020603050405020304" pitchFamily="18" charset="0"/>
                <a:cs typeface="Times New Roman" panose="02020603050405020304" pitchFamily="18" charset="0"/>
              </a:rPr>
              <a:t>PARTICULARS AND PROJECT INFORMATION</a:t>
            </a:r>
          </a:p>
        </p:txBody>
      </p:sp>
      <p:sp>
        <p:nvSpPr>
          <p:cNvPr id="3" name="Content Placeholder 2">
            <a:extLst>
              <a:ext uri="{FF2B5EF4-FFF2-40B4-BE49-F238E27FC236}">
                <a16:creationId xmlns:a16="http://schemas.microsoft.com/office/drawing/2014/main" id="{90AF61B7-9CD4-4801-9719-7C113CD6A959}"/>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STUDENT NAME: AVINUS .R. ADABERT</a:t>
            </a:r>
          </a:p>
          <a:p>
            <a:pPr marL="0" indent="0" algn="just">
              <a:buNone/>
            </a:pPr>
            <a:r>
              <a:rPr lang="en-US" dirty="0">
                <a:latin typeface="Times New Roman" panose="02020603050405020304" pitchFamily="18" charset="0"/>
                <a:cs typeface="Times New Roman" panose="02020603050405020304" pitchFamily="18" charset="0"/>
              </a:rPr>
              <a:t>REGISTRATION NUMBER: NIT/BIT/2023/2351</a:t>
            </a:r>
          </a:p>
          <a:p>
            <a:pPr marL="0" indent="0" algn="just">
              <a:buNone/>
            </a:pPr>
            <a:r>
              <a:rPr lang="en-US" dirty="0">
                <a:latin typeface="Times New Roman" panose="02020603050405020304" pitchFamily="18" charset="0"/>
                <a:cs typeface="Times New Roman" panose="02020603050405020304" pitchFamily="18" charset="0"/>
              </a:rPr>
              <a:t>SUPERVISOR NAME: ENG. ROBERT SIKUMBILI</a:t>
            </a:r>
          </a:p>
          <a:p>
            <a:pPr marL="0" indent="0" algn="just">
              <a:buNone/>
            </a:pPr>
            <a:r>
              <a:rPr lang="en-US" dirty="0">
                <a:latin typeface="Times New Roman" panose="02020603050405020304" pitchFamily="18" charset="0"/>
                <a:cs typeface="Times New Roman" panose="02020603050405020304" pitchFamily="18" charset="0"/>
              </a:rPr>
              <a:t>TITLE: AI-BASED JOB RECOMMENDATION SYSTEM</a:t>
            </a:r>
          </a:p>
          <a:p>
            <a:pPr marL="0" indent="0" algn="just">
              <a:buNone/>
            </a:pPr>
            <a:r>
              <a:rPr lang="en-US" dirty="0">
                <a:latin typeface="Times New Roman" panose="02020603050405020304" pitchFamily="18" charset="0"/>
                <a:cs typeface="Times New Roman" panose="02020603050405020304" pitchFamily="18" charset="0"/>
              </a:rPr>
              <a:t>PROJECT TYPE: DATA SCIENCE AND AI/ML PROJECT</a:t>
            </a:r>
          </a:p>
        </p:txBody>
      </p:sp>
      <p:pic>
        <p:nvPicPr>
          <p:cNvPr id="4" name="Picture 3">
            <a:extLst>
              <a:ext uri="{FF2B5EF4-FFF2-40B4-BE49-F238E27FC236}">
                <a16:creationId xmlns:a16="http://schemas.microsoft.com/office/drawing/2014/main" id="{BDB6436B-9B3B-42F9-B4D6-C154868257FA}"/>
              </a:ext>
            </a:extLst>
          </p:cNvPr>
          <p:cNvPicPr>
            <a:picLocks noChangeAspect="1"/>
          </p:cNvPicPr>
          <p:nvPr/>
        </p:nvPicPr>
        <p:blipFill>
          <a:blip r:embed="rId2"/>
          <a:stretch>
            <a:fillRect/>
          </a:stretch>
        </p:blipFill>
        <p:spPr>
          <a:xfrm>
            <a:off x="11089006" y="0"/>
            <a:ext cx="923700" cy="981635"/>
          </a:xfrm>
          <a:prstGeom prst="rect">
            <a:avLst/>
          </a:prstGeom>
        </p:spPr>
      </p:pic>
      <p:cxnSp>
        <p:nvCxnSpPr>
          <p:cNvPr id="6" name="Straight Connector 5">
            <a:extLst>
              <a:ext uri="{FF2B5EF4-FFF2-40B4-BE49-F238E27FC236}">
                <a16:creationId xmlns:a16="http://schemas.microsoft.com/office/drawing/2014/main" id="{69C34F0C-BC7F-417F-B5ED-85FB3E2360E0}"/>
              </a:ext>
            </a:extLst>
          </p:cNvPr>
          <p:cNvCxnSpPr/>
          <p:nvPr/>
        </p:nvCxnSpPr>
        <p:spPr>
          <a:xfrm>
            <a:off x="0" y="981635"/>
            <a:ext cx="12192000"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7EF6051A-DE74-4C95-B131-56EF30D7AC75}"/>
              </a:ext>
            </a:extLst>
          </p:cNvPr>
          <p:cNvSpPr txBox="1"/>
          <p:nvPr/>
        </p:nvSpPr>
        <p:spPr>
          <a:xfrm>
            <a:off x="3344956" y="6488668"/>
            <a:ext cx="6098240" cy="369332"/>
          </a:xfrm>
          <a:prstGeom prst="rect">
            <a:avLst/>
          </a:prstGeom>
          <a:noFill/>
        </p:spPr>
        <p:txBody>
          <a:bodyPr wrap="square">
            <a:spAutoFit/>
          </a:bodyPr>
          <a:lstStyle/>
          <a:p>
            <a:pPr algn="ctr"/>
            <a:r>
              <a:rPr lang="en-US" dirty="0">
                <a:solidFill>
                  <a:srgbClr val="FF0000"/>
                </a:solidFill>
              </a:rPr>
              <a:t>Department of Computing &amp; Communication Technology</a:t>
            </a:r>
          </a:p>
        </p:txBody>
      </p:sp>
      <p:cxnSp>
        <p:nvCxnSpPr>
          <p:cNvPr id="8" name="Straight Connector 7">
            <a:extLst>
              <a:ext uri="{FF2B5EF4-FFF2-40B4-BE49-F238E27FC236}">
                <a16:creationId xmlns:a16="http://schemas.microsoft.com/office/drawing/2014/main" id="{99C02A83-3FF6-4D15-9635-DAA7DFCE5C2D}"/>
              </a:ext>
            </a:extLst>
          </p:cNvPr>
          <p:cNvCxnSpPr>
            <a:cxnSpLocks/>
          </p:cNvCxnSpPr>
          <p:nvPr/>
        </p:nvCxnSpPr>
        <p:spPr>
          <a:xfrm>
            <a:off x="3570193" y="6488668"/>
            <a:ext cx="5647765"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360523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A355FB-8EA7-4283-BCE5-0DAE3C9C3815}"/>
              </a:ext>
            </a:extLst>
          </p:cNvPr>
          <p:cNvSpPr txBox="1"/>
          <p:nvPr/>
        </p:nvSpPr>
        <p:spPr>
          <a:xfrm>
            <a:off x="179294" y="267202"/>
            <a:ext cx="11833412" cy="7493077"/>
          </a:xfrm>
          <a:prstGeom prst="rect">
            <a:avLst/>
          </a:prstGeom>
          <a:noFill/>
        </p:spPr>
        <p:txBody>
          <a:bodyPr wrap="square">
            <a:spAutoFit/>
          </a:bodyPr>
          <a:lstStyle/>
          <a:p>
            <a:pPr marL="0" marR="0">
              <a:lnSpc>
                <a:spcPct val="115000"/>
              </a:lnSpc>
              <a:spcBef>
                <a:spcPts val="1000"/>
              </a:spcBef>
              <a:spcAft>
                <a:spcPts val="0"/>
              </a:spcAft>
            </a:pPr>
            <a:r>
              <a:rPr lang="en-US" sz="3200" b="1" dirty="0">
                <a:solidFill>
                  <a:srgbClr val="FF0000"/>
                </a:solidFill>
                <a:effectLst/>
                <a:latin typeface="Times New Roman" panose="02020603050405020304" pitchFamily="18" charset="0"/>
                <a:ea typeface="MS Gothic" panose="020B0609070205080204" pitchFamily="49" charset="-128"/>
                <a:cs typeface="Times New Roman" panose="02020603050405020304" pitchFamily="18" charset="0"/>
              </a:rPr>
              <a:t>BACKGROUND OF THE PROJECT</a:t>
            </a:r>
          </a:p>
          <a:p>
            <a:pPr marL="0" marR="0" algn="ctr">
              <a:lnSpc>
                <a:spcPct val="115000"/>
              </a:lnSpc>
              <a:spcBef>
                <a:spcPts val="1000"/>
              </a:spcBef>
              <a:spcAft>
                <a:spcPts val="0"/>
              </a:spcAft>
            </a:pPr>
            <a:endParaRPr lang="en-US" sz="3200" b="1" dirty="0">
              <a:latin typeface="Calibri" panose="020F0502020204030204" pitchFamily="34" charset="0"/>
              <a:ea typeface="MS Gothic" panose="020B0609070205080204" pitchFamily="49" charset="-128"/>
              <a:cs typeface="Times New Roman" panose="02020603050405020304" pitchFamily="18" charset="0"/>
            </a:endParaRPr>
          </a:p>
          <a:p>
            <a:r>
              <a:rPr lang="en-US" sz="3200" dirty="0"/>
              <a:t>The increasing number of job seekers and job vacancies has made the job search process difficult. Many online job portals provide general job listings without matching job seekers to suitable jobs, causing wasted time and irrelevant applications.</a:t>
            </a:r>
          </a:p>
          <a:p>
            <a:r>
              <a:rPr lang="en-US" sz="3200" dirty="0"/>
              <a:t>Advances in  (AI) and  (ML) enable better job matching by analyzing job seeker profiles and job requirements to provide accurate recommendations. This project proposes an AI-Based Job Recommendation System that allows job seekers to create profiles, employers to post jobs, and the system to recommend suitable jobs. The system aims to improve efficiency in the job search process.</a:t>
            </a:r>
          </a:p>
          <a:p>
            <a:pPr marL="0" marR="0" algn="ctr">
              <a:lnSpc>
                <a:spcPct val="115000"/>
              </a:lnSpc>
              <a:spcBef>
                <a:spcPts val="1000"/>
              </a:spcBef>
              <a:spcAft>
                <a:spcPts val="0"/>
              </a:spcAft>
            </a:pPr>
            <a:endParaRPr lang="en-US" sz="3200" b="1" dirty="0">
              <a:effectLst/>
              <a:latin typeface="Calibri" panose="020F0502020204030204" pitchFamily="34" charset="0"/>
              <a:ea typeface="MS Gothic" panose="020B0609070205080204" pitchFamily="49" charset="-128"/>
              <a:cs typeface="Times New Roman" panose="02020603050405020304" pitchFamily="18" charset="0"/>
            </a:endParaRPr>
          </a:p>
          <a:p>
            <a:pPr marL="457200" marR="0" indent="-457200" algn="just">
              <a:lnSpc>
                <a:spcPct val="115000"/>
              </a:lnSpc>
              <a:spcBef>
                <a:spcPts val="0"/>
              </a:spcBef>
              <a:spcAft>
                <a:spcPts val="1000"/>
              </a:spcAft>
              <a:buFont typeface="Arial" panose="020B0604020202020204" pitchFamily="34" charset="0"/>
              <a:buChar char="•"/>
            </a:pPr>
            <a:endParaRPr lang="en-US" sz="32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pic>
        <p:nvPicPr>
          <p:cNvPr id="5" name="Picture 4">
            <a:extLst>
              <a:ext uri="{FF2B5EF4-FFF2-40B4-BE49-F238E27FC236}">
                <a16:creationId xmlns:a16="http://schemas.microsoft.com/office/drawing/2014/main" id="{D321E5A3-93A7-453F-AA06-F9904B6D54E1}"/>
              </a:ext>
            </a:extLst>
          </p:cNvPr>
          <p:cNvPicPr>
            <a:picLocks noChangeAspect="1"/>
          </p:cNvPicPr>
          <p:nvPr/>
        </p:nvPicPr>
        <p:blipFill>
          <a:blip r:embed="rId2"/>
          <a:stretch>
            <a:fillRect/>
          </a:stretch>
        </p:blipFill>
        <p:spPr>
          <a:xfrm>
            <a:off x="11089006" y="0"/>
            <a:ext cx="923700" cy="981635"/>
          </a:xfrm>
          <a:prstGeom prst="rect">
            <a:avLst/>
          </a:prstGeom>
        </p:spPr>
      </p:pic>
      <p:sp>
        <p:nvSpPr>
          <p:cNvPr id="7" name="TextBox 6">
            <a:extLst>
              <a:ext uri="{FF2B5EF4-FFF2-40B4-BE49-F238E27FC236}">
                <a16:creationId xmlns:a16="http://schemas.microsoft.com/office/drawing/2014/main" id="{135D5CCA-DAB9-4216-AD03-1E982B3FA56C}"/>
              </a:ext>
            </a:extLst>
          </p:cNvPr>
          <p:cNvSpPr txBox="1"/>
          <p:nvPr/>
        </p:nvSpPr>
        <p:spPr>
          <a:xfrm>
            <a:off x="3344956" y="6488668"/>
            <a:ext cx="6098240" cy="369332"/>
          </a:xfrm>
          <a:prstGeom prst="rect">
            <a:avLst/>
          </a:prstGeom>
          <a:noFill/>
        </p:spPr>
        <p:txBody>
          <a:bodyPr wrap="square">
            <a:spAutoFit/>
          </a:bodyPr>
          <a:lstStyle/>
          <a:p>
            <a:pPr algn="ctr"/>
            <a:r>
              <a:rPr lang="en-US" dirty="0">
                <a:solidFill>
                  <a:srgbClr val="FF0000"/>
                </a:solidFill>
              </a:rPr>
              <a:t>Department of Computing &amp; Communication Technology</a:t>
            </a:r>
          </a:p>
        </p:txBody>
      </p:sp>
      <p:cxnSp>
        <p:nvCxnSpPr>
          <p:cNvPr id="11" name="Straight Connector 10">
            <a:extLst>
              <a:ext uri="{FF2B5EF4-FFF2-40B4-BE49-F238E27FC236}">
                <a16:creationId xmlns:a16="http://schemas.microsoft.com/office/drawing/2014/main" id="{520F33A7-65F3-4C71-9466-6E968AF90ACB}"/>
              </a:ext>
            </a:extLst>
          </p:cNvPr>
          <p:cNvCxnSpPr>
            <a:cxnSpLocks/>
          </p:cNvCxnSpPr>
          <p:nvPr/>
        </p:nvCxnSpPr>
        <p:spPr>
          <a:xfrm>
            <a:off x="3570193" y="6488668"/>
            <a:ext cx="5647765"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Connector 15">
            <a:extLst>
              <a:ext uri="{FF2B5EF4-FFF2-40B4-BE49-F238E27FC236}">
                <a16:creationId xmlns:a16="http://schemas.microsoft.com/office/drawing/2014/main" id="{3409611E-D4BA-446F-9285-70494B3631F4}"/>
              </a:ext>
            </a:extLst>
          </p:cNvPr>
          <p:cNvCxnSpPr/>
          <p:nvPr/>
        </p:nvCxnSpPr>
        <p:spPr>
          <a:xfrm flipH="1">
            <a:off x="179294" y="981635"/>
            <a:ext cx="11833412"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701458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4F4A93-9744-4C24-A26B-137DBCD2AF3B}"/>
              </a:ext>
            </a:extLst>
          </p:cNvPr>
          <p:cNvSpPr txBox="1"/>
          <p:nvPr/>
        </p:nvSpPr>
        <p:spPr>
          <a:xfrm>
            <a:off x="125505" y="285735"/>
            <a:ext cx="11940989" cy="5798254"/>
          </a:xfrm>
          <a:prstGeom prst="rect">
            <a:avLst/>
          </a:prstGeom>
          <a:noFill/>
        </p:spPr>
        <p:txBody>
          <a:bodyPr wrap="square">
            <a:spAutoFit/>
          </a:bodyPr>
          <a:lstStyle/>
          <a:p>
            <a:pPr marL="0" marR="0">
              <a:lnSpc>
                <a:spcPct val="115000"/>
              </a:lnSpc>
              <a:spcBef>
                <a:spcPts val="1000"/>
              </a:spcBef>
              <a:spcAft>
                <a:spcPts val="0"/>
              </a:spcAft>
            </a:pPr>
            <a:r>
              <a:rPr lang="en-US" sz="3200" b="1" dirty="0">
                <a:solidFill>
                  <a:srgbClr val="FF0000"/>
                </a:solidFill>
                <a:effectLst/>
                <a:latin typeface="Times New Roman" panose="02020603050405020304" pitchFamily="18" charset="0"/>
                <a:ea typeface="MS Gothic" panose="020B0609070205080204" pitchFamily="49" charset="-128"/>
                <a:cs typeface="Times New Roman" panose="02020603050405020304" pitchFamily="18" charset="0"/>
              </a:rPr>
              <a:t>SIGNIFICANCE OF THE PROJECT</a:t>
            </a:r>
          </a:p>
          <a:p>
            <a:pPr marL="0" marR="0">
              <a:lnSpc>
                <a:spcPct val="115000"/>
              </a:lnSpc>
              <a:spcBef>
                <a:spcPts val="1000"/>
              </a:spcBef>
              <a:spcAft>
                <a:spcPts val="0"/>
              </a:spcAft>
            </a:pPr>
            <a:endParaRPr lang="en-US" sz="2400" b="1" dirty="0">
              <a:solidFill>
                <a:srgbClr val="4F81BD"/>
              </a:solidFill>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endParaRPr lang="en-US" sz="24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endParaRPr lang="en-US" sz="24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457200" indent="-457200" algn="just">
              <a:lnSpc>
                <a:spcPct val="115000"/>
              </a:lnSpc>
              <a:spcAft>
                <a:spcPts val="1000"/>
              </a:spcAft>
              <a:buFont typeface="Arial" panose="020B0604020202020204" pitchFamily="34" charset="0"/>
              <a:buChar char="•"/>
            </a:pPr>
            <a:r>
              <a:rPr lang="en-US" sz="3200" dirty="0"/>
              <a:t>The system improves job searching by providing accurate job recommendations. Job seekers save time and find jobs that match their skills and interests. Employers can manage vacancies and identify suitable candidates faster. The system also  improve overall performance.</a:t>
            </a:r>
          </a:p>
          <a:p>
            <a:pPr marL="457200" marR="0" indent="-457200" algn="just">
              <a:lnSpc>
                <a:spcPct val="115000"/>
              </a:lnSpc>
              <a:spcBef>
                <a:spcPts val="0"/>
              </a:spcBef>
              <a:spcAft>
                <a:spcPts val="1000"/>
              </a:spcAft>
              <a:buFont typeface="Arial" panose="020B0604020202020204" pitchFamily="34" charset="0"/>
              <a:buChar char="•"/>
            </a:pPr>
            <a:endParaRPr lang="en-US" sz="32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pic>
        <p:nvPicPr>
          <p:cNvPr id="4" name="Picture 3">
            <a:extLst>
              <a:ext uri="{FF2B5EF4-FFF2-40B4-BE49-F238E27FC236}">
                <a16:creationId xmlns:a16="http://schemas.microsoft.com/office/drawing/2014/main" id="{D2F9439E-5920-40F4-A62C-CEB94197E90F}"/>
              </a:ext>
            </a:extLst>
          </p:cNvPr>
          <p:cNvPicPr>
            <a:picLocks noChangeAspect="1"/>
          </p:cNvPicPr>
          <p:nvPr/>
        </p:nvPicPr>
        <p:blipFill>
          <a:blip r:embed="rId2"/>
          <a:stretch>
            <a:fillRect/>
          </a:stretch>
        </p:blipFill>
        <p:spPr>
          <a:xfrm>
            <a:off x="11089005" y="0"/>
            <a:ext cx="932665" cy="887506"/>
          </a:xfrm>
          <a:prstGeom prst="rect">
            <a:avLst/>
          </a:prstGeom>
        </p:spPr>
      </p:pic>
      <p:cxnSp>
        <p:nvCxnSpPr>
          <p:cNvPr id="12" name="Straight Connector 11">
            <a:extLst>
              <a:ext uri="{FF2B5EF4-FFF2-40B4-BE49-F238E27FC236}">
                <a16:creationId xmlns:a16="http://schemas.microsoft.com/office/drawing/2014/main" id="{0DC2A5EC-61EA-4F5D-9535-F42A2165428B}"/>
              </a:ext>
            </a:extLst>
          </p:cNvPr>
          <p:cNvCxnSpPr/>
          <p:nvPr/>
        </p:nvCxnSpPr>
        <p:spPr>
          <a:xfrm>
            <a:off x="80681" y="887506"/>
            <a:ext cx="11985813"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 name="TextBox 12">
            <a:extLst>
              <a:ext uri="{FF2B5EF4-FFF2-40B4-BE49-F238E27FC236}">
                <a16:creationId xmlns:a16="http://schemas.microsoft.com/office/drawing/2014/main" id="{F1E034EF-B705-4541-900A-B9A6F294ECAB}"/>
              </a:ext>
            </a:extLst>
          </p:cNvPr>
          <p:cNvSpPr txBox="1"/>
          <p:nvPr/>
        </p:nvSpPr>
        <p:spPr>
          <a:xfrm>
            <a:off x="3344956" y="6488668"/>
            <a:ext cx="6098240" cy="369332"/>
          </a:xfrm>
          <a:prstGeom prst="rect">
            <a:avLst/>
          </a:prstGeom>
          <a:noFill/>
        </p:spPr>
        <p:txBody>
          <a:bodyPr wrap="square">
            <a:spAutoFit/>
          </a:bodyPr>
          <a:lstStyle/>
          <a:p>
            <a:pPr algn="ctr"/>
            <a:r>
              <a:rPr lang="en-US" dirty="0">
                <a:solidFill>
                  <a:srgbClr val="FF0000"/>
                </a:solidFill>
              </a:rPr>
              <a:t>Department of Computing &amp; Communication Technology</a:t>
            </a:r>
          </a:p>
        </p:txBody>
      </p:sp>
      <p:cxnSp>
        <p:nvCxnSpPr>
          <p:cNvPr id="14" name="Straight Connector 13">
            <a:extLst>
              <a:ext uri="{FF2B5EF4-FFF2-40B4-BE49-F238E27FC236}">
                <a16:creationId xmlns:a16="http://schemas.microsoft.com/office/drawing/2014/main" id="{8413804F-5D14-482E-813F-226C8F63342E}"/>
              </a:ext>
            </a:extLst>
          </p:cNvPr>
          <p:cNvCxnSpPr>
            <a:cxnSpLocks/>
          </p:cNvCxnSpPr>
          <p:nvPr/>
        </p:nvCxnSpPr>
        <p:spPr>
          <a:xfrm>
            <a:off x="3570193" y="6488668"/>
            <a:ext cx="5647765"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910987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F29BFBD-BB6D-4AC8-9B48-A09E73C01728}"/>
              </a:ext>
            </a:extLst>
          </p:cNvPr>
          <p:cNvSpPr txBox="1"/>
          <p:nvPr/>
        </p:nvSpPr>
        <p:spPr>
          <a:xfrm>
            <a:off x="172571" y="336176"/>
            <a:ext cx="11846858" cy="4688528"/>
          </a:xfrm>
          <a:prstGeom prst="rect">
            <a:avLst/>
          </a:prstGeom>
          <a:noFill/>
        </p:spPr>
        <p:txBody>
          <a:bodyPr wrap="square">
            <a:spAutoFit/>
          </a:bodyPr>
          <a:lstStyle/>
          <a:p>
            <a:pPr marL="0" marR="0">
              <a:lnSpc>
                <a:spcPct val="115000"/>
              </a:lnSpc>
              <a:spcBef>
                <a:spcPts val="1000"/>
              </a:spcBef>
              <a:spcAft>
                <a:spcPts val="0"/>
              </a:spcAft>
            </a:pPr>
            <a:r>
              <a:rPr lang="en-US" sz="3200" b="1" dirty="0">
                <a:solidFill>
                  <a:srgbClr val="FF0000"/>
                </a:solidFill>
                <a:effectLst/>
                <a:latin typeface="Calibri" panose="020F0502020204030204" pitchFamily="34" charset="0"/>
                <a:ea typeface="MS Gothic" panose="020B0609070205080204" pitchFamily="49" charset="-128"/>
                <a:cs typeface="Times New Roman" panose="02020603050405020304" pitchFamily="18" charset="0"/>
              </a:rPr>
              <a:t>PROBLEM STATEMENT</a:t>
            </a:r>
          </a:p>
          <a:p>
            <a:pPr marL="0" marR="0">
              <a:lnSpc>
                <a:spcPct val="115000"/>
              </a:lnSpc>
              <a:spcBef>
                <a:spcPts val="1000"/>
              </a:spcBef>
              <a:spcAft>
                <a:spcPts val="0"/>
              </a:spcAft>
            </a:pPr>
            <a:endParaRPr lang="en-US" sz="2400" b="1" dirty="0">
              <a:solidFill>
                <a:srgbClr val="4F81BD"/>
              </a:solidFill>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endParaRPr lang="en-US" sz="24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457200" marR="0" indent="-457200">
              <a:lnSpc>
                <a:spcPct val="115000"/>
              </a:lnSpc>
              <a:spcBef>
                <a:spcPts val="0"/>
              </a:spcBef>
              <a:spcAft>
                <a:spcPts val="1000"/>
              </a:spcAft>
              <a:buFont typeface="Arial" panose="020B0604020202020204" pitchFamily="34" charset="0"/>
              <a:buChar char="•"/>
            </a:pPr>
            <a:r>
              <a:rPr lang="en-US" sz="3200" dirty="0"/>
              <a:t>Job seekers find it difficult to get jobs that match their skills, while employers struggle to find suitable candidates.</a:t>
            </a:r>
          </a:p>
          <a:p>
            <a:pPr marL="457200" marR="0" indent="-457200">
              <a:lnSpc>
                <a:spcPct val="115000"/>
              </a:lnSpc>
              <a:spcBef>
                <a:spcPts val="0"/>
              </a:spcBef>
              <a:spcAft>
                <a:spcPts val="1000"/>
              </a:spcAft>
              <a:buFont typeface="Arial" panose="020B0604020202020204" pitchFamily="34" charset="0"/>
              <a:buChar char="•"/>
            </a:pPr>
            <a:r>
              <a:rPr lang="en-US" sz="3200" dirty="0"/>
              <a:t> Current systems lack AI-based job matching and proper system monitoring. Therefore, a better AI-based job recommendation system is needed.</a:t>
            </a:r>
            <a:endParaRPr lang="en-US" sz="32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pic>
        <p:nvPicPr>
          <p:cNvPr id="6" name="Picture 5">
            <a:extLst>
              <a:ext uri="{FF2B5EF4-FFF2-40B4-BE49-F238E27FC236}">
                <a16:creationId xmlns:a16="http://schemas.microsoft.com/office/drawing/2014/main" id="{974F342F-E7F4-41A4-900E-013B442D0E83}"/>
              </a:ext>
            </a:extLst>
          </p:cNvPr>
          <p:cNvPicPr>
            <a:picLocks noChangeAspect="1"/>
          </p:cNvPicPr>
          <p:nvPr/>
        </p:nvPicPr>
        <p:blipFill>
          <a:blip r:embed="rId2"/>
          <a:stretch>
            <a:fillRect/>
          </a:stretch>
        </p:blipFill>
        <p:spPr>
          <a:xfrm>
            <a:off x="11095729" y="0"/>
            <a:ext cx="923700" cy="981635"/>
          </a:xfrm>
          <a:prstGeom prst="rect">
            <a:avLst/>
          </a:prstGeom>
        </p:spPr>
      </p:pic>
      <p:cxnSp>
        <p:nvCxnSpPr>
          <p:cNvPr id="8" name="Straight Connector 7">
            <a:extLst>
              <a:ext uri="{FF2B5EF4-FFF2-40B4-BE49-F238E27FC236}">
                <a16:creationId xmlns:a16="http://schemas.microsoft.com/office/drawing/2014/main" id="{C12BAFDB-0381-4418-9B76-7889E852B05D}"/>
              </a:ext>
            </a:extLst>
          </p:cNvPr>
          <p:cNvCxnSpPr/>
          <p:nvPr/>
        </p:nvCxnSpPr>
        <p:spPr>
          <a:xfrm>
            <a:off x="172571" y="981635"/>
            <a:ext cx="11846858"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ED2A2FF4-F995-41C3-B264-D470DF4A31E8}"/>
              </a:ext>
            </a:extLst>
          </p:cNvPr>
          <p:cNvSpPr txBox="1"/>
          <p:nvPr/>
        </p:nvSpPr>
        <p:spPr>
          <a:xfrm>
            <a:off x="3344956" y="6488668"/>
            <a:ext cx="6098240" cy="369332"/>
          </a:xfrm>
          <a:prstGeom prst="rect">
            <a:avLst/>
          </a:prstGeom>
          <a:noFill/>
        </p:spPr>
        <p:txBody>
          <a:bodyPr wrap="square">
            <a:spAutoFit/>
          </a:bodyPr>
          <a:lstStyle/>
          <a:p>
            <a:pPr algn="ctr"/>
            <a:r>
              <a:rPr lang="en-US" dirty="0">
                <a:solidFill>
                  <a:srgbClr val="FF0000"/>
                </a:solidFill>
              </a:rPr>
              <a:t>Department of Computing &amp; Communication Technology</a:t>
            </a:r>
          </a:p>
        </p:txBody>
      </p:sp>
      <p:cxnSp>
        <p:nvCxnSpPr>
          <p:cNvPr id="10" name="Straight Connector 9">
            <a:extLst>
              <a:ext uri="{FF2B5EF4-FFF2-40B4-BE49-F238E27FC236}">
                <a16:creationId xmlns:a16="http://schemas.microsoft.com/office/drawing/2014/main" id="{8CED3944-B68C-49AA-A542-413898F6F0DD}"/>
              </a:ext>
            </a:extLst>
          </p:cNvPr>
          <p:cNvCxnSpPr>
            <a:cxnSpLocks/>
          </p:cNvCxnSpPr>
          <p:nvPr/>
        </p:nvCxnSpPr>
        <p:spPr>
          <a:xfrm>
            <a:off x="3570193" y="6488668"/>
            <a:ext cx="5647765"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416882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FFCFA6-1115-48F7-A700-161EE216246D}"/>
              </a:ext>
            </a:extLst>
          </p:cNvPr>
          <p:cNvSpPr txBox="1"/>
          <p:nvPr/>
        </p:nvSpPr>
        <p:spPr>
          <a:xfrm>
            <a:off x="226359" y="201706"/>
            <a:ext cx="11739282" cy="5394490"/>
          </a:xfrm>
          <a:prstGeom prst="rect">
            <a:avLst/>
          </a:prstGeom>
          <a:noFill/>
        </p:spPr>
        <p:txBody>
          <a:bodyPr wrap="square">
            <a:spAutoFit/>
          </a:bodyPr>
          <a:lstStyle/>
          <a:p>
            <a:pPr marL="0" marR="0">
              <a:lnSpc>
                <a:spcPct val="115000"/>
              </a:lnSpc>
              <a:spcBef>
                <a:spcPts val="1000"/>
              </a:spcBef>
              <a:spcAft>
                <a:spcPts val="0"/>
              </a:spcAft>
            </a:pPr>
            <a:r>
              <a:rPr lang="en-US" sz="3600" b="1" dirty="0">
                <a:solidFill>
                  <a:srgbClr val="FF0000"/>
                </a:solidFill>
                <a:effectLst/>
                <a:latin typeface="Times New Roman" panose="02020603050405020304" pitchFamily="18" charset="0"/>
                <a:ea typeface="MS Gothic" panose="020B0609070205080204" pitchFamily="49" charset="-128"/>
                <a:cs typeface="Times New Roman" panose="02020603050405020304" pitchFamily="18" charset="0"/>
              </a:rPr>
              <a:t>MAIN OBJECTIVE</a:t>
            </a:r>
          </a:p>
          <a:p>
            <a:pPr marL="0" marR="0">
              <a:lnSpc>
                <a:spcPct val="115000"/>
              </a:lnSpc>
              <a:spcBef>
                <a:spcPts val="1000"/>
              </a:spcBef>
              <a:spcAft>
                <a:spcPts val="0"/>
              </a:spcAft>
            </a:pPr>
            <a:endParaRPr lang="en-US" sz="3600" b="1" dirty="0">
              <a:solidFill>
                <a:srgbClr val="4F81BD"/>
              </a:solidFill>
              <a:latin typeface="Times New Roman" panose="02020603050405020304" pitchFamily="18" charset="0"/>
              <a:ea typeface="MS Gothic" panose="020B0609070205080204" pitchFamily="49" charset="-128"/>
              <a:cs typeface="Times New Roman" panose="02020603050405020304" pitchFamily="18" charset="0"/>
            </a:endParaRPr>
          </a:p>
          <a:p>
            <a:pPr>
              <a:lnSpc>
                <a:spcPct val="115000"/>
              </a:lnSpc>
              <a:spcBef>
                <a:spcPts val="1000"/>
              </a:spcBef>
            </a:pPr>
            <a:r>
              <a:rPr lang="en-US" sz="3600" dirty="0"/>
              <a:t>To develop an AI-based job recommendation system that efficiently connects job seekers with suitable job opportunities by analyzing applicant profiles, job vacancies, user interactions, and feedback to improve job matching accuracy</a:t>
            </a:r>
            <a:endParaRPr lang="en-US" sz="36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0" marR="0" algn="just">
              <a:lnSpc>
                <a:spcPct val="115000"/>
              </a:lnSpc>
              <a:spcBef>
                <a:spcPts val="0"/>
              </a:spcBef>
              <a:spcAft>
                <a:spcPts val="1000"/>
              </a:spcAft>
            </a:pPr>
            <a:endParaRPr lang="en-US" sz="36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pic>
        <p:nvPicPr>
          <p:cNvPr id="4" name="Picture 3">
            <a:extLst>
              <a:ext uri="{FF2B5EF4-FFF2-40B4-BE49-F238E27FC236}">
                <a16:creationId xmlns:a16="http://schemas.microsoft.com/office/drawing/2014/main" id="{7EA34A75-0250-4853-B3C1-7F6877F6FFA9}"/>
              </a:ext>
            </a:extLst>
          </p:cNvPr>
          <p:cNvPicPr>
            <a:picLocks noChangeAspect="1"/>
          </p:cNvPicPr>
          <p:nvPr/>
        </p:nvPicPr>
        <p:blipFill>
          <a:blip r:embed="rId2"/>
          <a:stretch>
            <a:fillRect/>
          </a:stretch>
        </p:blipFill>
        <p:spPr>
          <a:xfrm>
            <a:off x="11089005" y="0"/>
            <a:ext cx="932665" cy="887506"/>
          </a:xfrm>
          <a:prstGeom prst="rect">
            <a:avLst/>
          </a:prstGeom>
        </p:spPr>
      </p:pic>
      <p:cxnSp>
        <p:nvCxnSpPr>
          <p:cNvPr id="6" name="Straight Connector 5">
            <a:extLst>
              <a:ext uri="{FF2B5EF4-FFF2-40B4-BE49-F238E27FC236}">
                <a16:creationId xmlns:a16="http://schemas.microsoft.com/office/drawing/2014/main" id="{454CC9F4-E451-4D39-8E53-16EEE6A04C58}"/>
              </a:ext>
            </a:extLst>
          </p:cNvPr>
          <p:cNvCxnSpPr/>
          <p:nvPr/>
        </p:nvCxnSpPr>
        <p:spPr>
          <a:xfrm>
            <a:off x="170330" y="887506"/>
            <a:ext cx="11851340"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CCB66FF5-6AF0-495D-99F0-933135CE6CE5}"/>
              </a:ext>
            </a:extLst>
          </p:cNvPr>
          <p:cNvSpPr txBox="1"/>
          <p:nvPr/>
        </p:nvSpPr>
        <p:spPr>
          <a:xfrm>
            <a:off x="3344956" y="6488668"/>
            <a:ext cx="6098240" cy="369332"/>
          </a:xfrm>
          <a:prstGeom prst="rect">
            <a:avLst/>
          </a:prstGeom>
          <a:noFill/>
        </p:spPr>
        <p:txBody>
          <a:bodyPr wrap="square">
            <a:spAutoFit/>
          </a:bodyPr>
          <a:lstStyle/>
          <a:p>
            <a:pPr algn="ctr"/>
            <a:r>
              <a:rPr lang="en-US" dirty="0">
                <a:solidFill>
                  <a:srgbClr val="FF0000"/>
                </a:solidFill>
              </a:rPr>
              <a:t>Department of Computing &amp; Communication Technology</a:t>
            </a:r>
          </a:p>
        </p:txBody>
      </p:sp>
      <p:cxnSp>
        <p:nvCxnSpPr>
          <p:cNvPr id="8" name="Straight Connector 7">
            <a:extLst>
              <a:ext uri="{FF2B5EF4-FFF2-40B4-BE49-F238E27FC236}">
                <a16:creationId xmlns:a16="http://schemas.microsoft.com/office/drawing/2014/main" id="{8CA5255D-B826-4244-82EE-C1E12E1AEAE3}"/>
              </a:ext>
            </a:extLst>
          </p:cNvPr>
          <p:cNvCxnSpPr>
            <a:cxnSpLocks/>
          </p:cNvCxnSpPr>
          <p:nvPr/>
        </p:nvCxnSpPr>
        <p:spPr>
          <a:xfrm>
            <a:off x="3570193" y="6488668"/>
            <a:ext cx="5647765"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175347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B97BE6-2EB9-452E-B826-2DCD04077DDE}"/>
              </a:ext>
            </a:extLst>
          </p:cNvPr>
          <p:cNvSpPr txBox="1"/>
          <p:nvPr/>
        </p:nvSpPr>
        <p:spPr>
          <a:xfrm>
            <a:off x="161365" y="151630"/>
            <a:ext cx="11860305" cy="2823337"/>
          </a:xfrm>
          <a:prstGeom prst="rect">
            <a:avLst/>
          </a:prstGeom>
          <a:noFill/>
        </p:spPr>
        <p:txBody>
          <a:bodyPr wrap="square">
            <a:spAutoFit/>
          </a:bodyPr>
          <a:lstStyle/>
          <a:p>
            <a:pPr marL="0" marR="0">
              <a:lnSpc>
                <a:spcPct val="115000"/>
              </a:lnSpc>
              <a:spcBef>
                <a:spcPts val="1000"/>
              </a:spcBef>
              <a:spcAft>
                <a:spcPts val="0"/>
              </a:spcAft>
            </a:pPr>
            <a:r>
              <a:rPr lang="en-US" sz="3200" b="1" dirty="0">
                <a:solidFill>
                  <a:srgbClr val="FF0000"/>
                </a:solidFill>
                <a:effectLst/>
                <a:latin typeface="Times New Roman" panose="02020603050405020304" pitchFamily="18" charset="0"/>
                <a:ea typeface="MS Gothic" panose="020B0609070205080204" pitchFamily="49" charset="-128"/>
                <a:cs typeface="Times New Roman" panose="02020603050405020304" pitchFamily="18" charset="0"/>
              </a:rPr>
              <a:t>SPECIFIC OBJECTIVES</a:t>
            </a:r>
          </a:p>
          <a:p>
            <a:pPr marL="0" marR="0">
              <a:lnSpc>
                <a:spcPct val="115000"/>
              </a:lnSpc>
              <a:spcBef>
                <a:spcPts val="1000"/>
              </a:spcBef>
              <a:spcAft>
                <a:spcPts val="0"/>
              </a:spcAft>
            </a:pPr>
            <a:endParaRPr lang="en-US" sz="4000" b="1" dirty="0">
              <a:solidFill>
                <a:srgbClr val="4F81BD"/>
              </a:solidFill>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endParaRPr lang="en-US" sz="4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endParaRPr>
          </a:p>
          <a:p>
            <a:endParaRPr lang="en-US" sz="32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pic>
        <p:nvPicPr>
          <p:cNvPr id="4" name="Picture 3">
            <a:extLst>
              <a:ext uri="{FF2B5EF4-FFF2-40B4-BE49-F238E27FC236}">
                <a16:creationId xmlns:a16="http://schemas.microsoft.com/office/drawing/2014/main" id="{0FB451DF-6AAF-47C4-B3FA-D3807E88A94B}"/>
              </a:ext>
            </a:extLst>
          </p:cNvPr>
          <p:cNvPicPr>
            <a:picLocks noChangeAspect="1"/>
          </p:cNvPicPr>
          <p:nvPr/>
        </p:nvPicPr>
        <p:blipFill>
          <a:blip r:embed="rId2"/>
          <a:stretch>
            <a:fillRect/>
          </a:stretch>
        </p:blipFill>
        <p:spPr>
          <a:xfrm>
            <a:off x="11089005" y="0"/>
            <a:ext cx="932665" cy="887506"/>
          </a:xfrm>
          <a:prstGeom prst="rect">
            <a:avLst/>
          </a:prstGeom>
        </p:spPr>
      </p:pic>
      <p:cxnSp>
        <p:nvCxnSpPr>
          <p:cNvPr id="6" name="Straight Connector 5">
            <a:extLst>
              <a:ext uri="{FF2B5EF4-FFF2-40B4-BE49-F238E27FC236}">
                <a16:creationId xmlns:a16="http://schemas.microsoft.com/office/drawing/2014/main" id="{5766A79B-2AC2-40A0-8294-A8C292736B15}"/>
              </a:ext>
            </a:extLst>
          </p:cNvPr>
          <p:cNvCxnSpPr/>
          <p:nvPr/>
        </p:nvCxnSpPr>
        <p:spPr>
          <a:xfrm>
            <a:off x="80682" y="887506"/>
            <a:ext cx="12021670"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AFB04824-4CA1-4A36-89FF-86FE6CE035A2}"/>
              </a:ext>
            </a:extLst>
          </p:cNvPr>
          <p:cNvSpPr txBox="1"/>
          <p:nvPr/>
        </p:nvSpPr>
        <p:spPr>
          <a:xfrm>
            <a:off x="3344956" y="6488668"/>
            <a:ext cx="6098240" cy="369332"/>
          </a:xfrm>
          <a:prstGeom prst="rect">
            <a:avLst/>
          </a:prstGeom>
          <a:noFill/>
        </p:spPr>
        <p:txBody>
          <a:bodyPr wrap="square">
            <a:spAutoFit/>
          </a:bodyPr>
          <a:lstStyle/>
          <a:p>
            <a:pPr algn="ctr"/>
            <a:r>
              <a:rPr lang="en-US" dirty="0">
                <a:solidFill>
                  <a:srgbClr val="FF0000"/>
                </a:solidFill>
              </a:rPr>
              <a:t>Department of Computing &amp; Communication Technology</a:t>
            </a:r>
          </a:p>
        </p:txBody>
      </p:sp>
      <p:cxnSp>
        <p:nvCxnSpPr>
          <p:cNvPr id="8" name="Straight Connector 7">
            <a:extLst>
              <a:ext uri="{FF2B5EF4-FFF2-40B4-BE49-F238E27FC236}">
                <a16:creationId xmlns:a16="http://schemas.microsoft.com/office/drawing/2014/main" id="{1A8EC252-6EB1-4F7C-A72E-A376EBBA77F3}"/>
              </a:ext>
            </a:extLst>
          </p:cNvPr>
          <p:cNvCxnSpPr>
            <a:cxnSpLocks/>
          </p:cNvCxnSpPr>
          <p:nvPr/>
        </p:nvCxnSpPr>
        <p:spPr>
          <a:xfrm>
            <a:off x="3570193" y="6488668"/>
            <a:ext cx="5647765"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TextBox 4">
            <a:extLst>
              <a:ext uri="{FF2B5EF4-FFF2-40B4-BE49-F238E27FC236}">
                <a16:creationId xmlns:a16="http://schemas.microsoft.com/office/drawing/2014/main" id="{4FA0F14F-CBF2-0892-7FF2-B07921E0D6DA}"/>
              </a:ext>
            </a:extLst>
          </p:cNvPr>
          <p:cNvSpPr txBox="1"/>
          <p:nvPr/>
        </p:nvSpPr>
        <p:spPr>
          <a:xfrm>
            <a:off x="1229067" y="1293383"/>
            <a:ext cx="9724900" cy="4702826"/>
          </a:xfrm>
          <a:prstGeom prst="rect">
            <a:avLst/>
          </a:prstGeom>
          <a:noFill/>
        </p:spPr>
        <p:txBody>
          <a:bodyPr wrap="square">
            <a:spAutoFit/>
          </a:bodyPr>
          <a:lstStyle/>
          <a:p>
            <a:pPr marL="0" marR="0">
              <a:lnSpc>
                <a:spcPct val="1150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1.To design a subsystem that enables job seekers to register in the system and enter their personal details, and skills, educational qualifications, work experience, and career interests for job matching.</a:t>
            </a:r>
          </a:p>
          <a:p>
            <a:pPr marL="0" marR="0">
              <a:lnSpc>
                <a:spcPct val="1150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2.To design and implement a vacancy management subsystem that allows employers or administrators to enter job titles, job descriptions, required skills, qualifications, and experience.</a:t>
            </a:r>
          </a:p>
        </p:txBody>
      </p:sp>
    </p:spTree>
    <p:extLst>
      <p:ext uri="{BB962C8B-B14F-4D97-AF65-F5344CB8AC3E}">
        <p14:creationId xmlns:p14="http://schemas.microsoft.com/office/powerpoint/2010/main" val="3977236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5A065-E4D1-9CF5-FA2D-1D85EB3022A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2E411E-5937-3311-5D61-A99BEEBC6628}"/>
              </a:ext>
            </a:extLst>
          </p:cNvPr>
          <p:cNvSpPr txBox="1"/>
          <p:nvPr/>
        </p:nvSpPr>
        <p:spPr>
          <a:xfrm>
            <a:off x="161365" y="151630"/>
            <a:ext cx="11860305" cy="2823337"/>
          </a:xfrm>
          <a:prstGeom prst="rect">
            <a:avLst/>
          </a:prstGeom>
          <a:noFill/>
        </p:spPr>
        <p:txBody>
          <a:bodyPr wrap="square">
            <a:spAutoFit/>
          </a:bodyPr>
          <a:lstStyle/>
          <a:p>
            <a:pPr marL="0" marR="0">
              <a:lnSpc>
                <a:spcPct val="115000"/>
              </a:lnSpc>
              <a:spcBef>
                <a:spcPts val="1000"/>
              </a:spcBef>
              <a:spcAft>
                <a:spcPts val="0"/>
              </a:spcAft>
            </a:pPr>
            <a:r>
              <a:rPr lang="en-US" sz="3200" b="1" dirty="0">
                <a:solidFill>
                  <a:srgbClr val="FF0000"/>
                </a:solidFill>
                <a:effectLst/>
                <a:latin typeface="Times New Roman" panose="02020603050405020304" pitchFamily="18" charset="0"/>
                <a:ea typeface="MS Gothic" panose="020B0609070205080204" pitchFamily="49" charset="-128"/>
                <a:cs typeface="Times New Roman" panose="02020603050405020304" pitchFamily="18" charset="0"/>
              </a:rPr>
              <a:t>SPECIFIC OBJECTIVES</a:t>
            </a:r>
          </a:p>
          <a:p>
            <a:pPr marL="0" marR="0">
              <a:lnSpc>
                <a:spcPct val="115000"/>
              </a:lnSpc>
              <a:spcBef>
                <a:spcPts val="1000"/>
              </a:spcBef>
              <a:spcAft>
                <a:spcPts val="0"/>
              </a:spcAft>
            </a:pPr>
            <a:endParaRPr lang="en-US" sz="4000" b="1" dirty="0">
              <a:solidFill>
                <a:srgbClr val="4F81BD"/>
              </a:solidFill>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endParaRPr lang="en-US" sz="4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endParaRPr>
          </a:p>
          <a:p>
            <a:endParaRPr lang="en-US" sz="32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pic>
        <p:nvPicPr>
          <p:cNvPr id="4" name="Picture 3">
            <a:extLst>
              <a:ext uri="{FF2B5EF4-FFF2-40B4-BE49-F238E27FC236}">
                <a16:creationId xmlns:a16="http://schemas.microsoft.com/office/drawing/2014/main" id="{FCD7224D-8D58-A6EE-979F-A465A78BBD38}"/>
              </a:ext>
            </a:extLst>
          </p:cNvPr>
          <p:cNvPicPr>
            <a:picLocks noChangeAspect="1"/>
          </p:cNvPicPr>
          <p:nvPr/>
        </p:nvPicPr>
        <p:blipFill>
          <a:blip r:embed="rId2"/>
          <a:stretch>
            <a:fillRect/>
          </a:stretch>
        </p:blipFill>
        <p:spPr>
          <a:xfrm>
            <a:off x="11089005" y="0"/>
            <a:ext cx="932665" cy="887506"/>
          </a:xfrm>
          <a:prstGeom prst="rect">
            <a:avLst/>
          </a:prstGeom>
        </p:spPr>
      </p:pic>
      <p:cxnSp>
        <p:nvCxnSpPr>
          <p:cNvPr id="6" name="Straight Connector 5">
            <a:extLst>
              <a:ext uri="{FF2B5EF4-FFF2-40B4-BE49-F238E27FC236}">
                <a16:creationId xmlns:a16="http://schemas.microsoft.com/office/drawing/2014/main" id="{D0BAAD24-A22E-A05D-7158-1680735FC64A}"/>
              </a:ext>
            </a:extLst>
          </p:cNvPr>
          <p:cNvCxnSpPr/>
          <p:nvPr/>
        </p:nvCxnSpPr>
        <p:spPr>
          <a:xfrm>
            <a:off x="80682" y="887506"/>
            <a:ext cx="12021670"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7B17EAE6-5959-D210-4489-BE1D22931553}"/>
              </a:ext>
            </a:extLst>
          </p:cNvPr>
          <p:cNvSpPr txBox="1"/>
          <p:nvPr/>
        </p:nvSpPr>
        <p:spPr>
          <a:xfrm>
            <a:off x="3344956" y="6488668"/>
            <a:ext cx="6098240" cy="369332"/>
          </a:xfrm>
          <a:prstGeom prst="rect">
            <a:avLst/>
          </a:prstGeom>
          <a:noFill/>
        </p:spPr>
        <p:txBody>
          <a:bodyPr wrap="square">
            <a:spAutoFit/>
          </a:bodyPr>
          <a:lstStyle/>
          <a:p>
            <a:pPr algn="ctr"/>
            <a:r>
              <a:rPr lang="en-US" dirty="0">
                <a:solidFill>
                  <a:srgbClr val="FF0000"/>
                </a:solidFill>
              </a:rPr>
              <a:t>Department of Computing &amp; Communication Technology</a:t>
            </a:r>
          </a:p>
        </p:txBody>
      </p:sp>
      <p:cxnSp>
        <p:nvCxnSpPr>
          <p:cNvPr id="8" name="Straight Connector 7">
            <a:extLst>
              <a:ext uri="{FF2B5EF4-FFF2-40B4-BE49-F238E27FC236}">
                <a16:creationId xmlns:a16="http://schemas.microsoft.com/office/drawing/2014/main" id="{A842FBBA-6845-1A57-F250-2233727E3D87}"/>
              </a:ext>
            </a:extLst>
          </p:cNvPr>
          <p:cNvCxnSpPr>
            <a:cxnSpLocks/>
          </p:cNvCxnSpPr>
          <p:nvPr/>
        </p:nvCxnSpPr>
        <p:spPr>
          <a:xfrm>
            <a:off x="3570193" y="6488668"/>
            <a:ext cx="5647765"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TextBox 4">
            <a:extLst>
              <a:ext uri="{FF2B5EF4-FFF2-40B4-BE49-F238E27FC236}">
                <a16:creationId xmlns:a16="http://schemas.microsoft.com/office/drawing/2014/main" id="{580E407D-723D-E840-9A24-04AC41C4CF7E}"/>
              </a:ext>
            </a:extLst>
          </p:cNvPr>
          <p:cNvSpPr txBox="1"/>
          <p:nvPr/>
        </p:nvSpPr>
        <p:spPr>
          <a:xfrm>
            <a:off x="1364105" y="1856158"/>
            <a:ext cx="9724900" cy="2875659"/>
          </a:xfrm>
          <a:prstGeom prst="rect">
            <a:avLst/>
          </a:prstGeom>
          <a:noFill/>
        </p:spPr>
        <p:txBody>
          <a:bodyPr wrap="square">
            <a:spAutoFit/>
          </a:bodyPr>
          <a:lstStyle/>
          <a:p>
            <a:pPr>
              <a:lnSpc>
                <a:spcPct val="115000"/>
              </a:lnSpc>
              <a:spcAft>
                <a:spcPts val="1000"/>
              </a:spcAft>
            </a:pPr>
            <a:r>
              <a:rPr lang="en-US" sz="3200" dirty="0">
                <a:latin typeface="Cambria" panose="02040503050406030204" pitchFamily="18" charset="0"/>
                <a:ea typeface="MS Mincho" panose="02020609040205080304" pitchFamily="49" charset="-128"/>
                <a:cs typeface="Times New Roman" panose="02020603050405020304" pitchFamily="18" charset="0"/>
              </a:rPr>
              <a:t>3.To develop a subsystem that allows the system to check data provided by job seekers and use AI to retrieve jobs that match their skills, qualifications, experience, and interests, and then recommend the most suitable jobs to the job seeker.</a:t>
            </a:r>
          </a:p>
        </p:txBody>
      </p:sp>
    </p:spTree>
    <p:extLst>
      <p:ext uri="{BB962C8B-B14F-4D97-AF65-F5344CB8AC3E}">
        <p14:creationId xmlns:p14="http://schemas.microsoft.com/office/powerpoint/2010/main" val="3220580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CA74A-004A-9AE6-39CE-409AF752E2B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0C7218E-1497-2BA5-095B-8A0BD36B9A66}"/>
              </a:ext>
            </a:extLst>
          </p:cNvPr>
          <p:cNvSpPr txBox="1"/>
          <p:nvPr/>
        </p:nvSpPr>
        <p:spPr>
          <a:xfrm>
            <a:off x="161365" y="151630"/>
            <a:ext cx="11860305" cy="2823337"/>
          </a:xfrm>
          <a:prstGeom prst="rect">
            <a:avLst/>
          </a:prstGeom>
          <a:noFill/>
        </p:spPr>
        <p:txBody>
          <a:bodyPr wrap="square">
            <a:spAutoFit/>
          </a:bodyPr>
          <a:lstStyle/>
          <a:p>
            <a:pPr marL="0" marR="0">
              <a:lnSpc>
                <a:spcPct val="115000"/>
              </a:lnSpc>
              <a:spcBef>
                <a:spcPts val="1000"/>
              </a:spcBef>
              <a:spcAft>
                <a:spcPts val="0"/>
              </a:spcAft>
            </a:pPr>
            <a:r>
              <a:rPr lang="en-US" sz="3200" b="1" dirty="0">
                <a:solidFill>
                  <a:srgbClr val="FF0000"/>
                </a:solidFill>
                <a:effectLst/>
                <a:latin typeface="Times New Roman" panose="02020603050405020304" pitchFamily="18" charset="0"/>
                <a:ea typeface="MS Gothic" panose="020B0609070205080204" pitchFamily="49" charset="-128"/>
                <a:cs typeface="Times New Roman" panose="02020603050405020304" pitchFamily="18" charset="0"/>
              </a:rPr>
              <a:t>SPECIFIC OBJECTIVES</a:t>
            </a:r>
          </a:p>
          <a:p>
            <a:pPr marL="0" marR="0">
              <a:lnSpc>
                <a:spcPct val="115000"/>
              </a:lnSpc>
              <a:spcBef>
                <a:spcPts val="1000"/>
              </a:spcBef>
              <a:spcAft>
                <a:spcPts val="0"/>
              </a:spcAft>
            </a:pPr>
            <a:endParaRPr lang="en-US" sz="4000" b="1" dirty="0">
              <a:solidFill>
                <a:srgbClr val="4F81BD"/>
              </a:solidFill>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endParaRPr lang="en-US" sz="4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endParaRPr>
          </a:p>
          <a:p>
            <a:endParaRPr lang="en-US" sz="32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pic>
        <p:nvPicPr>
          <p:cNvPr id="4" name="Picture 3">
            <a:extLst>
              <a:ext uri="{FF2B5EF4-FFF2-40B4-BE49-F238E27FC236}">
                <a16:creationId xmlns:a16="http://schemas.microsoft.com/office/drawing/2014/main" id="{9CEC669E-D1FD-E417-E74D-DD1E43CD7E6B}"/>
              </a:ext>
            </a:extLst>
          </p:cNvPr>
          <p:cNvPicPr>
            <a:picLocks noChangeAspect="1"/>
          </p:cNvPicPr>
          <p:nvPr/>
        </p:nvPicPr>
        <p:blipFill>
          <a:blip r:embed="rId2"/>
          <a:stretch>
            <a:fillRect/>
          </a:stretch>
        </p:blipFill>
        <p:spPr>
          <a:xfrm>
            <a:off x="11089005" y="0"/>
            <a:ext cx="932665" cy="887506"/>
          </a:xfrm>
          <a:prstGeom prst="rect">
            <a:avLst/>
          </a:prstGeom>
        </p:spPr>
      </p:pic>
      <p:cxnSp>
        <p:nvCxnSpPr>
          <p:cNvPr id="6" name="Straight Connector 5">
            <a:extLst>
              <a:ext uri="{FF2B5EF4-FFF2-40B4-BE49-F238E27FC236}">
                <a16:creationId xmlns:a16="http://schemas.microsoft.com/office/drawing/2014/main" id="{6E87C230-DCC4-8A4C-BA0D-E6F25CB6088D}"/>
              </a:ext>
            </a:extLst>
          </p:cNvPr>
          <p:cNvCxnSpPr/>
          <p:nvPr/>
        </p:nvCxnSpPr>
        <p:spPr>
          <a:xfrm>
            <a:off x="80682" y="887506"/>
            <a:ext cx="12021670"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9741809E-4B13-F879-9545-6D0C0C25D5C4}"/>
              </a:ext>
            </a:extLst>
          </p:cNvPr>
          <p:cNvSpPr txBox="1"/>
          <p:nvPr/>
        </p:nvSpPr>
        <p:spPr>
          <a:xfrm>
            <a:off x="3344956" y="6488668"/>
            <a:ext cx="6098240" cy="369332"/>
          </a:xfrm>
          <a:prstGeom prst="rect">
            <a:avLst/>
          </a:prstGeom>
          <a:noFill/>
        </p:spPr>
        <p:txBody>
          <a:bodyPr wrap="square">
            <a:spAutoFit/>
          </a:bodyPr>
          <a:lstStyle/>
          <a:p>
            <a:pPr algn="ctr"/>
            <a:r>
              <a:rPr lang="en-US" dirty="0">
                <a:solidFill>
                  <a:srgbClr val="FF0000"/>
                </a:solidFill>
              </a:rPr>
              <a:t>Department of Computing &amp; Communication Technology</a:t>
            </a:r>
          </a:p>
        </p:txBody>
      </p:sp>
      <p:cxnSp>
        <p:nvCxnSpPr>
          <p:cNvPr id="8" name="Straight Connector 7">
            <a:extLst>
              <a:ext uri="{FF2B5EF4-FFF2-40B4-BE49-F238E27FC236}">
                <a16:creationId xmlns:a16="http://schemas.microsoft.com/office/drawing/2014/main" id="{6EF92BA9-F3EC-E8E3-AE16-24C22A3A2ED2}"/>
              </a:ext>
            </a:extLst>
          </p:cNvPr>
          <p:cNvCxnSpPr>
            <a:cxnSpLocks/>
          </p:cNvCxnSpPr>
          <p:nvPr/>
        </p:nvCxnSpPr>
        <p:spPr>
          <a:xfrm>
            <a:off x="3570193" y="6488668"/>
            <a:ext cx="5647765"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TextBox 4">
            <a:extLst>
              <a:ext uri="{FF2B5EF4-FFF2-40B4-BE49-F238E27FC236}">
                <a16:creationId xmlns:a16="http://schemas.microsoft.com/office/drawing/2014/main" id="{B7F2B1B6-C5C5-837B-A21B-5CBD8BCC684B}"/>
              </a:ext>
            </a:extLst>
          </p:cNvPr>
          <p:cNvSpPr txBox="1"/>
          <p:nvPr/>
        </p:nvSpPr>
        <p:spPr>
          <a:xfrm>
            <a:off x="1229067" y="1293383"/>
            <a:ext cx="9724900" cy="4136517"/>
          </a:xfrm>
          <a:prstGeom prst="rect">
            <a:avLst/>
          </a:prstGeom>
          <a:noFill/>
        </p:spPr>
        <p:txBody>
          <a:bodyPr wrap="square">
            <a:spAutoFit/>
          </a:bodyPr>
          <a:lstStyle/>
          <a:p>
            <a:pPr algn="just">
              <a:lnSpc>
                <a:spcPct val="115000"/>
              </a:lnSpc>
              <a:spcAft>
                <a:spcPts val="1000"/>
              </a:spcAft>
            </a:pPr>
            <a:r>
              <a:rPr lang="en-US" sz="3200" dirty="0">
                <a:latin typeface="Cambria" panose="02040503050406030204" pitchFamily="18" charset="0"/>
                <a:ea typeface="MS Mincho" panose="02020609040205080304" pitchFamily="49" charset="-128"/>
                <a:cs typeface="Times New Roman" panose="02020603050405020304" pitchFamily="18" charset="0"/>
              </a:rPr>
              <a:t>4.To develop a subsystem that allows job seekers to view job details, save preferred jobs, and the system guide users on how to apply for the recommended jobs , while using their interaction data and feedback (views, saves</a:t>
            </a:r>
            <a:r>
              <a:rPr lang="en-US" sz="3200">
                <a:latin typeface="Cambria" panose="02040503050406030204" pitchFamily="18" charset="0"/>
                <a:ea typeface="MS Mincho" panose="02020609040205080304" pitchFamily="49" charset="-128"/>
                <a:cs typeface="Times New Roman" panose="02020603050405020304" pitchFamily="18" charset="0"/>
              </a:rPr>
              <a:t>, how to apply) </a:t>
            </a:r>
            <a:r>
              <a:rPr lang="en-US" sz="3200" dirty="0">
                <a:latin typeface="Cambria" panose="02040503050406030204" pitchFamily="18" charset="0"/>
                <a:ea typeface="MS Mincho" panose="02020609040205080304" pitchFamily="49" charset="-128"/>
                <a:cs typeface="Times New Roman" panose="02020603050405020304" pitchFamily="18" charset="0"/>
              </a:rPr>
              <a:t>to continuously improve the accuracy</a:t>
            </a:r>
          </a:p>
          <a:p>
            <a:pPr>
              <a:lnSpc>
                <a:spcPct val="115000"/>
              </a:lnSpc>
              <a:spcAft>
                <a:spcPts val="1000"/>
              </a:spcAft>
            </a:pPr>
            <a:endParaRPr lang="en-US" sz="3200" dirty="0">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011939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20A6E8-AF49-2B39-4201-AF44FB007BFB}"/>
              </a:ext>
            </a:extLst>
          </p:cNvPr>
          <p:cNvSpPr txBox="1"/>
          <p:nvPr/>
        </p:nvSpPr>
        <p:spPr>
          <a:xfrm>
            <a:off x="1008529" y="833164"/>
            <a:ext cx="10609730" cy="5281126"/>
          </a:xfrm>
          <a:prstGeom prst="rect">
            <a:avLst/>
          </a:prstGeom>
          <a:noFill/>
        </p:spPr>
        <p:txBody>
          <a:bodyPr wrap="square">
            <a:spAutoFit/>
          </a:bodyPr>
          <a:lstStyle/>
          <a:p>
            <a:pPr marL="0" marR="0">
              <a:lnSpc>
                <a:spcPct val="115000"/>
              </a:lnSpc>
              <a:spcAft>
                <a:spcPts val="1000"/>
              </a:spcAft>
              <a:buNone/>
            </a:pPr>
            <a:r>
              <a:rPr lang="en-US" sz="2400" dirty="0">
                <a:effectLst/>
                <a:latin typeface="Cambria" panose="02040503050406030204" pitchFamily="18" charset="0"/>
                <a:ea typeface="MS Mincho" panose="02020609040205080304" pitchFamily="49" charset="-128"/>
                <a:cs typeface="Times New Roman" panose="02020603050405020304" pitchFamily="18" charset="0"/>
              </a:rPr>
              <a:t>1.INTRODUCTION OF LITERATURE REVIEW</a:t>
            </a:r>
          </a:p>
          <a:p>
            <a:pPr marL="0" marR="0">
              <a:lnSpc>
                <a:spcPct val="115000"/>
              </a:lnSpc>
              <a:spcAft>
                <a:spcPts val="1000"/>
              </a:spcAft>
              <a:buNone/>
            </a:pPr>
            <a:r>
              <a:rPr lang="en-US" sz="2400" dirty="0">
                <a:effectLst/>
                <a:latin typeface="Cambria" panose="02040503050406030204" pitchFamily="18" charset="0"/>
                <a:ea typeface="MS Mincho" panose="02020609040205080304" pitchFamily="49" charset="-128"/>
                <a:cs typeface="Times New Roman" panose="02020603050405020304" pitchFamily="18" charset="0"/>
              </a:rPr>
              <a:t>Several studies have been conducted to improve the job search and </a:t>
            </a:r>
            <a:r>
              <a:rPr lang="en-US" sz="2400" dirty="0">
                <a:latin typeface="Cambria" panose="02040503050406030204" pitchFamily="18" charset="0"/>
                <a:ea typeface="MS Mincho" panose="02020609040205080304" pitchFamily="49" charset="-128"/>
                <a:cs typeface="Times New Roman" panose="02020603050405020304" pitchFamily="18" charset="0"/>
              </a:rPr>
              <a:t>employment </a:t>
            </a:r>
            <a:r>
              <a:rPr lang="en-US" sz="2400" dirty="0">
                <a:effectLst/>
                <a:latin typeface="Cambria" panose="02040503050406030204" pitchFamily="18" charset="0"/>
                <a:ea typeface="MS Mincho" panose="02020609040205080304" pitchFamily="49" charset="-128"/>
                <a:cs typeface="Times New Roman" panose="02020603050405020304" pitchFamily="18" charset="0"/>
              </a:rPr>
              <a:t>process through digital and intelligent systems. Traditional job portals mainly present job vacancies in a list format, requiring job seekers to manually search and filter opportunities. This approach is often inefficient, especially as the number of job seekers and job postings continues to grow. Recent advancements in Artificial Intelligence (AI) and Machine Learning (ML) have enabled the development of intelligent job recommendation systems that automatically match job seekers with suitable job opportunities based on their skills, qualifications, and experience. This literature review examines existing studies related to AI-based job recommendation systems and identifies gaps that the proposed system aims to address.</a:t>
            </a:r>
          </a:p>
        </p:txBody>
      </p:sp>
    </p:spTree>
    <p:extLst>
      <p:ext uri="{BB962C8B-B14F-4D97-AF65-F5344CB8AC3E}">
        <p14:creationId xmlns:p14="http://schemas.microsoft.com/office/powerpoint/2010/main" val="2742794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4C92F8-8674-968F-9027-8DEBA2DC1AB3}"/>
              </a:ext>
            </a:extLst>
          </p:cNvPr>
          <p:cNvSpPr txBox="1"/>
          <p:nvPr/>
        </p:nvSpPr>
        <p:spPr>
          <a:xfrm>
            <a:off x="470648" y="160230"/>
            <a:ext cx="11537576" cy="6257098"/>
          </a:xfrm>
          <a:prstGeom prst="rect">
            <a:avLst/>
          </a:prstGeom>
          <a:noFill/>
        </p:spPr>
        <p:txBody>
          <a:bodyPr wrap="square">
            <a:spAutoFit/>
          </a:bodyPr>
          <a:lstStyle/>
          <a:p>
            <a:pPr marL="0" marR="0">
              <a:lnSpc>
                <a:spcPct val="115000"/>
              </a:lnSpc>
              <a:spcAft>
                <a:spcPts val="1000"/>
              </a:spcAft>
              <a:buNone/>
            </a:pPr>
            <a:r>
              <a:rPr lang="en-US" sz="2400" dirty="0">
                <a:effectLst/>
                <a:latin typeface="Cambria" panose="02040503050406030204" pitchFamily="18" charset="0"/>
                <a:ea typeface="MS Mincho" panose="02020609040205080304" pitchFamily="49" charset="-128"/>
                <a:cs typeface="Times New Roman" panose="02020603050405020304" pitchFamily="18" charset="0"/>
              </a:rPr>
              <a:t>2.REVIEW THE EXSISTING STUDIES AND SYSTEM</a:t>
            </a:r>
          </a:p>
          <a:p>
            <a:pPr marL="0" marR="0">
              <a:lnSpc>
                <a:spcPct val="115000"/>
              </a:lnSpc>
              <a:spcAft>
                <a:spcPts val="1000"/>
              </a:spcAft>
              <a:buNone/>
            </a:pPr>
            <a:r>
              <a:rPr lang="en-US" sz="2400" dirty="0">
                <a:effectLst/>
                <a:latin typeface="Cambria" panose="02040503050406030204" pitchFamily="18" charset="0"/>
                <a:ea typeface="MS Mincho" panose="02020609040205080304" pitchFamily="49" charset="-128"/>
                <a:cs typeface="Times New Roman" panose="02020603050405020304" pitchFamily="18" charset="0"/>
              </a:rPr>
              <a:t>Tran (2023) investigated the application of explainable artificial intelligence in job recommendation systems. The study focused on improving transparency by explaining how and why specific jobs are recommended to users. Using real-world datasets, the research demonstrated that explainable AI techniques can increase user trust while maintaining effective job matching performance.</a:t>
            </a:r>
          </a:p>
          <a:p>
            <a:pPr marL="0" marR="0">
              <a:lnSpc>
                <a:spcPct val="115000"/>
              </a:lnSpc>
              <a:spcAft>
                <a:spcPts val="1000"/>
              </a:spcAft>
              <a:buNone/>
            </a:pPr>
            <a:r>
              <a:rPr lang="en-US" sz="2400" dirty="0">
                <a:effectLst/>
                <a:latin typeface="Cambria" panose="02040503050406030204" pitchFamily="18" charset="0"/>
                <a:ea typeface="MS Mincho" panose="02020609040205080304" pitchFamily="49" charset="-128"/>
                <a:cs typeface="Times New Roman" panose="02020603050405020304" pitchFamily="18" charset="0"/>
              </a:rPr>
              <a:t>Jain and Kakkar (2019) developed a job recommendation system based on machine learning and data mining techniques. Their system analyzed job seeker profiles and job vacancy data to generate relevant job recommendations. The study showed that machine learning-based systems significantly improve job matching efficiency compared to traditional keyword-based job portals.</a:t>
            </a:r>
          </a:p>
          <a:p>
            <a:pPr>
              <a:buNone/>
            </a:pPr>
            <a:r>
              <a:rPr lang="en-US" sz="2400" dirty="0">
                <a:effectLst/>
                <a:latin typeface="Cambria" panose="02040503050406030204" pitchFamily="18" charset="0"/>
                <a:ea typeface="MS Mincho" panose="02020609040205080304" pitchFamily="49" charset="-128"/>
                <a:cs typeface="Times New Roman" panose="02020603050405020304" pitchFamily="18" charset="0"/>
              </a:rPr>
              <a:t>Mao, Lin, and Cheng (2024) proposed a job recommendation model based on a two-layer attention mechanism. Their approach focused on learning meaningful representations of job seekers and job vacancies to improve recommendation accuracy</a:t>
            </a:r>
            <a:endParaRPr lang="en-US" sz="2400" dirty="0"/>
          </a:p>
        </p:txBody>
      </p:sp>
    </p:spTree>
    <p:extLst>
      <p:ext uri="{BB962C8B-B14F-4D97-AF65-F5344CB8AC3E}">
        <p14:creationId xmlns:p14="http://schemas.microsoft.com/office/powerpoint/2010/main" val="4091124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813EF9-39AB-5AD2-69FF-9FF2DE570C2E}"/>
              </a:ext>
            </a:extLst>
          </p:cNvPr>
          <p:cNvSpPr txBox="1"/>
          <p:nvPr/>
        </p:nvSpPr>
        <p:spPr>
          <a:xfrm>
            <a:off x="953037" y="2060957"/>
            <a:ext cx="10380371" cy="4136517"/>
          </a:xfrm>
          <a:prstGeom prst="rect">
            <a:avLst/>
          </a:prstGeom>
          <a:noFill/>
        </p:spPr>
        <p:txBody>
          <a:bodyPr wrap="square">
            <a:spAutoFit/>
          </a:bodyPr>
          <a:lstStyle/>
          <a:p>
            <a:pPr marL="0" marR="0">
              <a:lnSpc>
                <a:spcPct val="1150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3.IDENTIFIES GAP IN EXISITING SYSTEM</a:t>
            </a:r>
          </a:p>
          <a:p>
            <a:pPr marL="0" marR="0">
              <a:lnSpc>
                <a:spcPct val="1150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From the reviewed literature, it is evident that most existing job recommendation systems emphasize algorithm performance and matching accuracy. However, several limitations still exist, including limited use of user interaction data, insufficient explainable features, lack of user-friendly interfaces, and limited administrative tools.</a:t>
            </a:r>
          </a:p>
        </p:txBody>
      </p:sp>
    </p:spTree>
    <p:extLst>
      <p:ext uri="{BB962C8B-B14F-4D97-AF65-F5344CB8AC3E}">
        <p14:creationId xmlns:p14="http://schemas.microsoft.com/office/powerpoint/2010/main" val="4112837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3506EF-CE46-95B1-C863-2CAA6E2C6624}"/>
              </a:ext>
            </a:extLst>
          </p:cNvPr>
          <p:cNvSpPr txBox="1"/>
          <p:nvPr/>
        </p:nvSpPr>
        <p:spPr>
          <a:xfrm>
            <a:off x="566670" y="2204191"/>
            <a:ext cx="11011437" cy="3539430"/>
          </a:xfrm>
          <a:prstGeom prst="rect">
            <a:avLst/>
          </a:prstGeom>
          <a:noFill/>
        </p:spPr>
        <p:txBody>
          <a:bodyPr wrap="square">
            <a:spAutoFit/>
          </a:bodyPr>
          <a:lstStyle/>
          <a:p>
            <a:pPr>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4.RELATION TO THE PROPOSED SYSTEM</a:t>
            </a:r>
          </a:p>
          <a:p>
            <a:pPr>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The proposed AI-Based Job Recommendation System aims to address the identified gaps by providing intelligent job matching based on skills, education, work experience, and career interests. The system will apply AI-based ranking, continuous improvement using user interactions, and provide user-friendly </a:t>
            </a:r>
            <a:r>
              <a:rPr lang="en-US" sz="3200">
                <a:effectLst/>
                <a:latin typeface="Cambria" panose="02040503050406030204" pitchFamily="18" charset="0"/>
                <a:ea typeface="MS Mincho" panose="02020609040205080304" pitchFamily="49" charset="-128"/>
                <a:cs typeface="Times New Roman" panose="02020603050405020304" pitchFamily="18" charset="0"/>
              </a:rPr>
              <a:t>interfaces </a:t>
            </a:r>
            <a:endParaRPr lang="en-US" sz="3200" dirty="0"/>
          </a:p>
        </p:txBody>
      </p:sp>
    </p:spTree>
    <p:extLst>
      <p:ext uri="{BB962C8B-B14F-4D97-AF65-F5344CB8AC3E}">
        <p14:creationId xmlns:p14="http://schemas.microsoft.com/office/powerpoint/2010/main" val="2573713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C0DC20-7792-3BA2-0150-8816DCA3947D}"/>
              </a:ext>
            </a:extLst>
          </p:cNvPr>
          <p:cNvSpPr txBox="1"/>
          <p:nvPr/>
        </p:nvSpPr>
        <p:spPr>
          <a:xfrm>
            <a:off x="1077532" y="1645264"/>
            <a:ext cx="11114468" cy="4688143"/>
          </a:xfrm>
          <a:prstGeom prst="rect">
            <a:avLst/>
          </a:prstGeom>
          <a:noFill/>
        </p:spPr>
        <p:txBody>
          <a:bodyPr wrap="square">
            <a:spAutoFit/>
          </a:bodyPr>
          <a:lstStyle/>
          <a:p>
            <a:pPr marL="0" marR="0">
              <a:lnSpc>
                <a:spcPct val="115000"/>
              </a:lnSpc>
              <a:spcAft>
                <a:spcPts val="1000"/>
              </a:spcAft>
              <a:buNone/>
            </a:pPr>
            <a:r>
              <a:rPr lang="en-US" sz="2400" dirty="0">
                <a:effectLst/>
                <a:latin typeface="Cambria" panose="02040503050406030204" pitchFamily="18" charset="0"/>
                <a:ea typeface="MS Mincho" panose="02020609040205080304" pitchFamily="49" charset="-128"/>
                <a:cs typeface="Times New Roman" panose="02020603050405020304" pitchFamily="18" charset="0"/>
              </a:rPr>
              <a:t>REFERENCE (APA STYLE)</a:t>
            </a:r>
          </a:p>
          <a:p>
            <a:pPr marL="0" marR="0">
              <a:lnSpc>
                <a:spcPct val="115000"/>
              </a:lnSpc>
              <a:spcAft>
                <a:spcPts val="1000"/>
              </a:spcAft>
              <a:buNone/>
            </a:pPr>
            <a:r>
              <a:rPr lang="en-US" sz="2400" dirty="0">
                <a:effectLst/>
                <a:latin typeface="Cambria" panose="02040503050406030204" pitchFamily="18" charset="0"/>
                <a:ea typeface="MS Mincho" panose="02020609040205080304" pitchFamily="49" charset="-128"/>
                <a:cs typeface="Times New Roman" panose="02020603050405020304" pitchFamily="18" charset="0"/>
              </a:rPr>
              <a:t>Tran, T. H. A. (2023). Explainable artificial intelligence in job recommendation systems (Master’s thesis). University of Twente, Faculty of Electrical Engineering, Mathematics and Computer Science.</a:t>
            </a:r>
          </a:p>
          <a:p>
            <a:pPr marL="0" marR="0">
              <a:lnSpc>
                <a:spcPct val="115000"/>
              </a:lnSpc>
              <a:spcAft>
                <a:spcPts val="1000"/>
              </a:spcAft>
              <a:buNone/>
            </a:pPr>
            <a:r>
              <a:rPr lang="en-US" sz="2400" dirty="0">
                <a:effectLst/>
                <a:latin typeface="Cambria" panose="02040503050406030204" pitchFamily="18" charset="0"/>
                <a:ea typeface="MS Mincho" panose="02020609040205080304" pitchFamily="49" charset="-128"/>
                <a:cs typeface="Times New Roman" panose="02020603050405020304" pitchFamily="18" charset="0"/>
              </a:rPr>
              <a:t>Jain, H., &amp; Kakkar, M. (2019). Job recommendation system based on machine learning and data mining techniques using RESTful API and Android IDE. In 9th International Conference on Cloud Computing, Data Science &amp; Engineering (Confluence). </a:t>
            </a:r>
          </a:p>
          <a:p>
            <a:pPr marL="0" marR="0">
              <a:lnSpc>
                <a:spcPct val="115000"/>
              </a:lnSpc>
              <a:spcAft>
                <a:spcPts val="1000"/>
              </a:spcAft>
              <a:buNone/>
            </a:pPr>
            <a:r>
              <a:rPr lang="en-US" sz="2400" dirty="0">
                <a:effectLst/>
                <a:latin typeface="Cambria" panose="02040503050406030204" pitchFamily="18" charset="0"/>
                <a:ea typeface="MS Mincho" panose="02020609040205080304" pitchFamily="49" charset="-128"/>
                <a:cs typeface="Times New Roman" panose="02020603050405020304" pitchFamily="18" charset="0"/>
              </a:rPr>
              <a:t>Mao, Y., Lin, S., &amp; Cheng, Y. (2024). A job recommendation model based on a two-layer attention mechanism. Electronics, 13(3), 485.</a:t>
            </a:r>
          </a:p>
        </p:txBody>
      </p:sp>
    </p:spTree>
    <p:extLst>
      <p:ext uri="{BB962C8B-B14F-4D97-AF65-F5344CB8AC3E}">
        <p14:creationId xmlns:p14="http://schemas.microsoft.com/office/powerpoint/2010/main" val="1638169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6F8056-13A1-4E83-AC8E-588FC0ACB6CC}"/>
              </a:ext>
            </a:extLst>
          </p:cNvPr>
          <p:cNvSpPr txBox="1"/>
          <p:nvPr/>
        </p:nvSpPr>
        <p:spPr>
          <a:xfrm>
            <a:off x="0" y="-479225"/>
            <a:ext cx="11739282" cy="4962128"/>
          </a:xfrm>
          <a:prstGeom prst="rect">
            <a:avLst/>
          </a:prstGeom>
          <a:noFill/>
        </p:spPr>
        <p:txBody>
          <a:bodyPr wrap="square">
            <a:spAutoFit/>
          </a:bodyPr>
          <a:lstStyle/>
          <a:p>
            <a:pPr marL="0" marR="0">
              <a:lnSpc>
                <a:spcPct val="115000"/>
              </a:lnSpc>
              <a:spcBef>
                <a:spcPts val="1000"/>
              </a:spcBef>
              <a:spcAft>
                <a:spcPts val="0"/>
              </a:spcAft>
            </a:pPr>
            <a:r>
              <a:rPr lang="en-US" sz="3200" b="1" dirty="0">
                <a:solidFill>
                  <a:srgbClr val="FF0000"/>
                </a:solidFill>
                <a:effectLst/>
                <a:latin typeface="Times New Roman" panose="02020603050405020304" pitchFamily="18" charset="0"/>
                <a:ea typeface="MS Gothic" panose="020B0609070205080204" pitchFamily="49" charset="-128"/>
                <a:cs typeface="Times New Roman" panose="02020603050405020304" pitchFamily="18" charset="0"/>
              </a:rPr>
              <a:t>SCOPE OF THE PROJECT</a:t>
            </a:r>
          </a:p>
          <a:p>
            <a:pPr marL="0" marR="0">
              <a:lnSpc>
                <a:spcPct val="115000"/>
              </a:lnSpc>
              <a:spcBef>
                <a:spcPts val="1000"/>
              </a:spcBef>
              <a:spcAft>
                <a:spcPts val="0"/>
              </a:spcAft>
            </a:pPr>
            <a:endParaRPr lang="en-US" sz="3200" b="1" dirty="0">
              <a:solidFill>
                <a:srgbClr val="4F81BD"/>
              </a:solidFill>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endParaRPr lang="en-US" sz="32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457200" indent="-457200" algn="just">
              <a:lnSpc>
                <a:spcPct val="115000"/>
              </a:lnSpc>
              <a:spcAft>
                <a:spcPts val="1000"/>
              </a:spcAft>
              <a:buFont typeface="Arial" panose="020B0604020202020204" pitchFamily="34" charset="0"/>
              <a:buChar char="•"/>
            </a:pPr>
            <a:r>
              <a:rPr lang="en-US" sz="3200" dirty="0"/>
              <a:t>The system includes job seeker registration, job posting, AI-based job matching, and job applications, . It focuses on professional and technical jobs and works on web or mobile platforms. The system excludes informal, volunteer, freelance, and offline job processes.</a:t>
            </a:r>
          </a:p>
          <a:p>
            <a:pPr marL="457200" marR="0" indent="-457200" algn="just">
              <a:lnSpc>
                <a:spcPct val="115000"/>
              </a:lnSpc>
              <a:spcBef>
                <a:spcPts val="0"/>
              </a:spcBef>
              <a:spcAft>
                <a:spcPts val="1000"/>
              </a:spcAft>
              <a:buFont typeface="Arial" panose="020B0604020202020204" pitchFamily="34" charset="0"/>
              <a:buChar char="•"/>
            </a:pPr>
            <a:r>
              <a:rPr lang="en-US" sz="3200" dirty="0">
                <a:effectLst/>
                <a:latin typeface="Times New Roman" panose="02020603050405020304" pitchFamily="18" charset="0"/>
                <a:ea typeface="MS Mincho" panose="02020609040205080304" pitchFamily="49" charset="-128"/>
                <a:cs typeface="Times New Roman" panose="02020603050405020304" pitchFamily="18" charset="0"/>
              </a:rPr>
              <a:t>.</a:t>
            </a:r>
          </a:p>
        </p:txBody>
      </p:sp>
      <p:pic>
        <p:nvPicPr>
          <p:cNvPr id="4" name="Picture 3">
            <a:extLst>
              <a:ext uri="{FF2B5EF4-FFF2-40B4-BE49-F238E27FC236}">
                <a16:creationId xmlns:a16="http://schemas.microsoft.com/office/drawing/2014/main" id="{D82E2316-823F-4EB4-9687-2ED2C40073C2}"/>
              </a:ext>
            </a:extLst>
          </p:cNvPr>
          <p:cNvPicPr>
            <a:picLocks noChangeAspect="1"/>
          </p:cNvPicPr>
          <p:nvPr/>
        </p:nvPicPr>
        <p:blipFill>
          <a:blip r:embed="rId2"/>
          <a:stretch>
            <a:fillRect/>
          </a:stretch>
        </p:blipFill>
        <p:spPr>
          <a:xfrm>
            <a:off x="11089005" y="0"/>
            <a:ext cx="932665" cy="887506"/>
          </a:xfrm>
          <a:prstGeom prst="rect">
            <a:avLst/>
          </a:prstGeom>
        </p:spPr>
      </p:pic>
      <p:cxnSp>
        <p:nvCxnSpPr>
          <p:cNvPr id="8" name="Straight Connector 7">
            <a:extLst>
              <a:ext uri="{FF2B5EF4-FFF2-40B4-BE49-F238E27FC236}">
                <a16:creationId xmlns:a16="http://schemas.microsoft.com/office/drawing/2014/main" id="{BAB9FB73-C2D7-4478-A6C0-6841201ED123}"/>
              </a:ext>
            </a:extLst>
          </p:cNvPr>
          <p:cNvCxnSpPr>
            <a:cxnSpLocks/>
          </p:cNvCxnSpPr>
          <p:nvPr/>
        </p:nvCxnSpPr>
        <p:spPr>
          <a:xfrm>
            <a:off x="170330" y="887506"/>
            <a:ext cx="11851340"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 name="TextBox 10">
            <a:extLst>
              <a:ext uri="{FF2B5EF4-FFF2-40B4-BE49-F238E27FC236}">
                <a16:creationId xmlns:a16="http://schemas.microsoft.com/office/drawing/2014/main" id="{51631A75-1102-4D6F-AFDD-F525CFAEF5EC}"/>
              </a:ext>
            </a:extLst>
          </p:cNvPr>
          <p:cNvSpPr txBox="1"/>
          <p:nvPr/>
        </p:nvSpPr>
        <p:spPr>
          <a:xfrm>
            <a:off x="3344956" y="6488668"/>
            <a:ext cx="6098240" cy="369332"/>
          </a:xfrm>
          <a:prstGeom prst="rect">
            <a:avLst/>
          </a:prstGeom>
          <a:noFill/>
        </p:spPr>
        <p:txBody>
          <a:bodyPr wrap="square">
            <a:spAutoFit/>
          </a:bodyPr>
          <a:lstStyle/>
          <a:p>
            <a:pPr algn="ctr"/>
            <a:r>
              <a:rPr lang="en-US" dirty="0">
                <a:solidFill>
                  <a:srgbClr val="FF0000"/>
                </a:solidFill>
              </a:rPr>
              <a:t>Department of Computing &amp; Communication Technology</a:t>
            </a:r>
          </a:p>
        </p:txBody>
      </p:sp>
      <p:cxnSp>
        <p:nvCxnSpPr>
          <p:cNvPr id="12" name="Straight Connector 11">
            <a:extLst>
              <a:ext uri="{FF2B5EF4-FFF2-40B4-BE49-F238E27FC236}">
                <a16:creationId xmlns:a16="http://schemas.microsoft.com/office/drawing/2014/main" id="{FBA9C92D-48CB-4B91-A588-D7614A1A55EB}"/>
              </a:ext>
            </a:extLst>
          </p:cNvPr>
          <p:cNvCxnSpPr>
            <a:cxnSpLocks/>
          </p:cNvCxnSpPr>
          <p:nvPr/>
        </p:nvCxnSpPr>
        <p:spPr>
          <a:xfrm>
            <a:off x="3570193" y="6488668"/>
            <a:ext cx="5647765"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20346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57FCB-93DC-C041-4EDD-8B0621A78448}"/>
              </a:ext>
            </a:extLst>
          </p:cNvPr>
          <p:cNvSpPr>
            <a:spLocks noGrp="1"/>
          </p:cNvSpPr>
          <p:nvPr>
            <p:ph type="title"/>
          </p:nvPr>
        </p:nvSpPr>
        <p:spPr>
          <a:xfrm>
            <a:off x="733697" y="1"/>
            <a:ext cx="10515600" cy="1214846"/>
          </a:xfrm>
        </p:spPr>
        <p:txBody>
          <a:bodyPr/>
          <a:lstStyle/>
          <a:p>
            <a:r>
              <a:rPr lang="en-US" dirty="0">
                <a:solidFill>
                  <a:srgbClr val="FF0000"/>
                </a:solidFill>
                <a:latin typeface="Times New Roman" panose="02020603050405020304" pitchFamily="18" charset="0"/>
                <a:cs typeface="Times New Roman" panose="02020603050405020304" pitchFamily="18" charset="0"/>
              </a:rPr>
              <a:t>Q&amp;A</a:t>
            </a:r>
          </a:p>
        </p:txBody>
      </p:sp>
      <p:sp>
        <p:nvSpPr>
          <p:cNvPr id="3" name="Content Placeholder 2">
            <a:extLst>
              <a:ext uri="{FF2B5EF4-FFF2-40B4-BE49-F238E27FC236}">
                <a16:creationId xmlns:a16="http://schemas.microsoft.com/office/drawing/2014/main" id="{08246A1F-B1A7-95FB-1135-921C5A765102}"/>
              </a:ext>
            </a:extLst>
          </p:cNvPr>
          <p:cNvSpPr>
            <a:spLocks noGrp="1"/>
          </p:cNvSpPr>
          <p:nvPr>
            <p:ph idx="1"/>
          </p:nvPr>
        </p:nvSpPr>
        <p:spPr>
          <a:xfrm>
            <a:off x="838200" y="1825626"/>
            <a:ext cx="10515600" cy="3399518"/>
          </a:xfrm>
        </p:spPr>
        <p:txBody>
          <a:bodyPr/>
          <a:lstStyle/>
          <a:p>
            <a:pPr marL="0" indent="0" algn="ctr">
              <a:buNone/>
            </a:pPr>
            <a:endParaRPr lang="en-US" dirty="0"/>
          </a:p>
          <a:p>
            <a:pPr marL="0" indent="0" algn="ctr">
              <a:buNone/>
            </a:pPr>
            <a:endParaRPr lang="en-US" dirty="0"/>
          </a:p>
          <a:p>
            <a:pPr marL="0" indent="0" algn="ctr">
              <a:buNone/>
            </a:pPr>
            <a:r>
              <a:rPr lang="en-US" dirty="0"/>
              <a:t>Thank you for your attention.</a:t>
            </a:r>
          </a:p>
          <a:p>
            <a:pPr marL="0" indent="0" algn="ctr">
              <a:buNone/>
            </a:pPr>
            <a:r>
              <a:rPr lang="en-US" dirty="0"/>
              <a:t>I welcome any questions or suggestions regarding this project</a:t>
            </a:r>
          </a:p>
        </p:txBody>
      </p:sp>
      <p:pic>
        <p:nvPicPr>
          <p:cNvPr id="4" name="Picture 3">
            <a:extLst>
              <a:ext uri="{FF2B5EF4-FFF2-40B4-BE49-F238E27FC236}">
                <a16:creationId xmlns:a16="http://schemas.microsoft.com/office/drawing/2014/main" id="{91718905-72CB-728B-6854-721ED05BE55E}"/>
              </a:ext>
            </a:extLst>
          </p:cNvPr>
          <p:cNvPicPr>
            <a:picLocks noChangeAspect="1"/>
          </p:cNvPicPr>
          <p:nvPr/>
        </p:nvPicPr>
        <p:blipFill>
          <a:blip r:embed="rId2"/>
          <a:stretch>
            <a:fillRect/>
          </a:stretch>
        </p:blipFill>
        <p:spPr>
          <a:xfrm>
            <a:off x="11089005" y="0"/>
            <a:ext cx="932665" cy="887506"/>
          </a:xfrm>
          <a:prstGeom prst="rect">
            <a:avLst/>
          </a:prstGeom>
        </p:spPr>
      </p:pic>
      <p:sp>
        <p:nvSpPr>
          <p:cNvPr id="5" name="TextBox 4">
            <a:extLst>
              <a:ext uri="{FF2B5EF4-FFF2-40B4-BE49-F238E27FC236}">
                <a16:creationId xmlns:a16="http://schemas.microsoft.com/office/drawing/2014/main" id="{2999B5B5-AEFA-628D-FC58-B0E605429B7B}"/>
              </a:ext>
            </a:extLst>
          </p:cNvPr>
          <p:cNvSpPr txBox="1"/>
          <p:nvPr/>
        </p:nvSpPr>
        <p:spPr>
          <a:xfrm>
            <a:off x="3344956" y="6488668"/>
            <a:ext cx="6098240" cy="369332"/>
          </a:xfrm>
          <a:prstGeom prst="rect">
            <a:avLst/>
          </a:prstGeom>
          <a:noFill/>
        </p:spPr>
        <p:txBody>
          <a:bodyPr wrap="square">
            <a:spAutoFit/>
          </a:bodyPr>
          <a:lstStyle/>
          <a:p>
            <a:pPr algn="ctr"/>
            <a:r>
              <a:rPr lang="en-US" dirty="0">
                <a:solidFill>
                  <a:srgbClr val="FF0000"/>
                </a:solidFill>
              </a:rPr>
              <a:t>Department of Computing &amp; Communication Technology</a:t>
            </a:r>
          </a:p>
        </p:txBody>
      </p:sp>
      <p:cxnSp>
        <p:nvCxnSpPr>
          <p:cNvPr id="6" name="Straight Connector 5">
            <a:extLst>
              <a:ext uri="{FF2B5EF4-FFF2-40B4-BE49-F238E27FC236}">
                <a16:creationId xmlns:a16="http://schemas.microsoft.com/office/drawing/2014/main" id="{2F3B2108-E532-F23D-D176-15934D3A40C5}"/>
              </a:ext>
            </a:extLst>
          </p:cNvPr>
          <p:cNvCxnSpPr>
            <a:cxnSpLocks/>
          </p:cNvCxnSpPr>
          <p:nvPr/>
        </p:nvCxnSpPr>
        <p:spPr>
          <a:xfrm>
            <a:off x="3570193" y="6488668"/>
            <a:ext cx="5647765"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 name="Straight Connector 6">
            <a:extLst>
              <a:ext uri="{FF2B5EF4-FFF2-40B4-BE49-F238E27FC236}">
                <a16:creationId xmlns:a16="http://schemas.microsoft.com/office/drawing/2014/main" id="{87C9C397-A66C-574D-35E1-9E083E6293B6}"/>
              </a:ext>
            </a:extLst>
          </p:cNvPr>
          <p:cNvCxnSpPr>
            <a:cxnSpLocks/>
          </p:cNvCxnSpPr>
          <p:nvPr/>
        </p:nvCxnSpPr>
        <p:spPr>
          <a:xfrm>
            <a:off x="170330" y="887506"/>
            <a:ext cx="11851340"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102071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2084</TotalTime>
  <Words>1107</Words>
  <Application>Microsoft Office PowerPoint</Application>
  <PresentationFormat>Widescreen</PresentationFormat>
  <Paragraphs>67</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Cambria</vt:lpstr>
      <vt:lpstr>Times New Roman</vt:lpstr>
      <vt:lpstr>Office Theme</vt:lpstr>
      <vt:lpstr>PARTICULARS AND PROJECT INFORMATION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Bright Mlonganile</dc:creator>
  <cp:lastModifiedBy>Avi Boy</cp:lastModifiedBy>
  <cp:revision>23</cp:revision>
  <dcterms:created xsi:type="dcterms:W3CDTF">2025-12-29T08:29:54Z</dcterms:created>
  <dcterms:modified xsi:type="dcterms:W3CDTF">2026-03-19T19:59:07Z</dcterms:modified>
</cp:coreProperties>
</file>