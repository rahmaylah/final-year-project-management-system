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73152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2286000"/>
            <a:ext cx="9144000" cy="4572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History of Human-Computer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57200" y="1417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4B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914400" y="251460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Punch Cards to Natural Language — A Journey Through HCI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4400" y="4663440"/>
            <a:ext cx="7315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899AA"/>
                </a:solidFill>
              </a:rPr>
              <a:t>[ Your Name ] · [ Institution ] · [ Year 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6400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Human-Computer Interaction (HCI)?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96012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is the study of how people interact with computers and technology.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combines computer science, cognitive psychology, and design principles.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goal is to make technology intuitive, efficient, and accessible.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influences how we design everything from software UIs to physical devices.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has evolved dramatically over 70+ years of computing history.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257800" y="914400"/>
            <a:ext cx="3566160" cy="3977640"/>
          </a:xfrm>
          <a:prstGeom prst="rect">
            <a:avLst/>
          </a:prstGeom>
          <a:solidFill>
            <a:srgbClr val="1B3A5F"/>
          </a:solidFill>
          <a:ln w="19050">
            <a:solidFill>
              <a:srgbClr val="14B8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20840" y="2354580"/>
            <a:ext cx="640080" cy="640080"/>
          </a:xfrm>
          <a:prstGeom prst="ellipse">
            <a:avLst/>
          </a:prstGeom>
          <a:solidFill>
            <a:srgbClr val="14B8C8">
              <a:alpha val="70000"/>
            </a:srgbClr>
          </a:solidFill>
          <a:ln w="12700">
            <a:solidFill>
              <a:srgbClr val="14B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12280" y="24003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94960" y="29946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4B8C8"/>
                </a:solidFill>
              </a:rPr>
              <a:t>HCI Concept Diagram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49240" y="45720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9AA"/>
                </a:solidFill>
              </a:rPr>
              <a:t>[ Replace with image ]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79992" y="0"/>
            <a:ext cx="64008" cy="514350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6400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Batch Processing Era — 1940s to 1950s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" y="914400"/>
            <a:ext cx="3566160" cy="3977640"/>
          </a:xfrm>
          <a:prstGeom prst="rect">
            <a:avLst/>
          </a:prstGeom>
          <a:solidFill>
            <a:srgbClr val="1A2E4A"/>
          </a:solidFill>
          <a:ln w="19050">
            <a:solidFill>
              <a:srgbClr val="14B8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00200" y="2354580"/>
            <a:ext cx="640080" cy="640080"/>
          </a:xfrm>
          <a:prstGeom prst="ellipse">
            <a:avLst/>
          </a:prstGeom>
          <a:solidFill>
            <a:srgbClr val="14B8C8">
              <a:alpha val="70000"/>
            </a:srgbClr>
          </a:solidFill>
          <a:ln w="12700">
            <a:solidFill>
              <a:srgbClr val="14B8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24003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🖼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29946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4B8C8"/>
                </a:solidFill>
              </a:rPr>
              <a:t>Punch Cards &amp; Early Mainframes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" y="45720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9AA"/>
                </a:solidFill>
              </a:rPr>
              <a:t>[ Replace with image ]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931920" y="96012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computers like ENIAC and UNIVAC filled entire rooms.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submitted jobs via punch cards — no direct interaction.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Operators physically loaded programs into the machine.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were printed on paper and collected later.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was no "interface" — humans adapted completely to the machine.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6400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Line Interfaces — The 1960s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96012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Teletype terminals replaced punch cards for real-time input.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typed commands in text form — the CLI was born.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UNIX (1969) popularized powerful command-line environments.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timesharing allowed multiple users on one machine.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 memorization of commands — steep learning curve for non-experts.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257800" y="914400"/>
            <a:ext cx="3566160" cy="3977640"/>
          </a:xfrm>
          <a:prstGeom prst="rect">
            <a:avLst/>
          </a:prstGeom>
          <a:solidFill>
            <a:srgbClr val="0D2B3A"/>
          </a:solidFill>
          <a:ln w="19050">
            <a:solidFill>
              <a:srgbClr val="14B8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20840" y="2354580"/>
            <a:ext cx="640080" cy="640080"/>
          </a:xfrm>
          <a:prstGeom prst="ellipse">
            <a:avLst/>
          </a:prstGeom>
          <a:solidFill>
            <a:srgbClr val="14B8C8">
              <a:alpha val="70000"/>
            </a:srgbClr>
          </a:solidFill>
          <a:ln w="12700">
            <a:solidFill>
              <a:srgbClr val="14B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12280" y="24003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94960" y="29946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4B8C8"/>
                </a:solidFill>
              </a:rPr>
              <a:t>UNIX Terminal &amp; CLI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49240" y="45720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9AA"/>
                </a:solidFill>
              </a:rPr>
              <a:t>[ Replace with image ]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79992" y="0"/>
            <a:ext cx="64008" cy="514350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6400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Mouse &amp; "The Mother of All Demos" — 1964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" y="914400"/>
            <a:ext cx="3566160" cy="3977640"/>
          </a:xfrm>
          <a:prstGeom prst="rect">
            <a:avLst/>
          </a:prstGeom>
          <a:solidFill>
            <a:srgbClr val="1A3050"/>
          </a:solidFill>
          <a:ln w="19050">
            <a:solidFill>
              <a:srgbClr val="14B8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00200" y="2354580"/>
            <a:ext cx="640080" cy="640080"/>
          </a:xfrm>
          <a:prstGeom prst="ellipse">
            <a:avLst/>
          </a:prstGeom>
          <a:solidFill>
            <a:srgbClr val="14B8C8">
              <a:alpha val="70000"/>
            </a:srgbClr>
          </a:solidFill>
          <a:ln w="12700">
            <a:solidFill>
              <a:srgbClr val="14B8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24003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🖼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29946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4B8C8"/>
                </a:solidFill>
              </a:rPr>
              <a:t>Douglas Engelbart &amp; First Mouse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" y="45720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9AA"/>
                </a:solidFill>
              </a:rPr>
              <a:t>[ Replace with image ]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931920" y="96012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Douglas Engelbart invented the computer mouse at SRI in 1964.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 1968 demo showcased hypertext, video conferencing &amp; collaborative editing.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mouse allowed pointing and clicking — direct manipulation of objects.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was a turning point: computers could now be "felt" through a cursor.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Engelbart's vision laid the groundwork for all modern GUIs.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6400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Xerox PARC and the GUI Revolution — 1970s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96012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Xerox PARC developed the Alto workstation (1973) — the first GUI computer.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windows, icons, menus, and pointer (WIMP) paradigm.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desktop metaphor made computing relatable to everyday users.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BitBlt technology enabled fast, smooth graphical updates.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PARC's innovations were later adopted (and commercialized) by Apple and Microsoft.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257800" y="914400"/>
            <a:ext cx="3566160" cy="3977640"/>
          </a:xfrm>
          <a:prstGeom prst="rect">
            <a:avLst/>
          </a:prstGeom>
          <a:solidFill>
            <a:srgbClr val="1C3448"/>
          </a:solidFill>
          <a:ln w="19050">
            <a:solidFill>
              <a:srgbClr val="14B8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20840" y="2354580"/>
            <a:ext cx="640080" cy="640080"/>
          </a:xfrm>
          <a:prstGeom prst="ellipse">
            <a:avLst/>
          </a:prstGeom>
          <a:solidFill>
            <a:srgbClr val="14B8C8">
              <a:alpha val="70000"/>
            </a:srgbClr>
          </a:solidFill>
          <a:ln w="12700">
            <a:solidFill>
              <a:srgbClr val="14B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12280" y="24003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94960" y="29946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4B8C8"/>
                </a:solidFill>
              </a:rPr>
              <a:t>Xerox Alto Workstation GUI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49240" y="45720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9AA"/>
                </a:solidFill>
              </a:rPr>
              <a:t>[ Replace with image ]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79992" y="0"/>
            <a:ext cx="64008" cy="514350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6400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Macintosh — Bringing GUI to the Masses (1984)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" y="914400"/>
            <a:ext cx="3566160" cy="3977640"/>
          </a:xfrm>
          <a:prstGeom prst="rect">
            <a:avLst/>
          </a:prstGeom>
          <a:solidFill>
            <a:srgbClr val="172C40"/>
          </a:solidFill>
          <a:ln w="19050">
            <a:solidFill>
              <a:srgbClr val="14B8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00200" y="2354580"/>
            <a:ext cx="640080" cy="640080"/>
          </a:xfrm>
          <a:prstGeom prst="ellipse">
            <a:avLst/>
          </a:prstGeom>
          <a:solidFill>
            <a:srgbClr val="14B8C8">
              <a:alpha val="70000"/>
            </a:srgbClr>
          </a:solidFill>
          <a:ln w="12700">
            <a:solidFill>
              <a:srgbClr val="14B8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24003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🖼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29946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4B8C8"/>
                </a:solidFill>
              </a:rPr>
              <a:t>Original Apple Macintosh 1984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" y="45720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9AA"/>
                </a:solidFill>
              </a:rPr>
              <a:t>[ Replace with image ]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931920" y="96012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Macintosh (1984) was the first mass-market computer with a GUI.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Friendly, icon-based interface replaced cryptic command lines.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"1984" Super Bowl ad positioned computing as a tool for everyone.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HyperCard (1987) introduced clickable, linked information cards.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Mac set the standard for how personal computers should look and feel.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6400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Windows &amp; PC Dominance — 1985 to 1995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96012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1.0 (1985) brought a GUI to IBM-compatible PCs.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3.1 and 95 made computing accessible to hundreds of millions.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Start Menu, taskbar, and desktop icons became global conventions.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Office standardized productivity software interfaces.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design patterns from this era still influence modern operating systems.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257800" y="914400"/>
            <a:ext cx="3566160" cy="3977640"/>
          </a:xfrm>
          <a:prstGeom prst="rect">
            <a:avLst/>
          </a:prstGeom>
          <a:solidFill>
            <a:srgbClr val="0F2840"/>
          </a:solidFill>
          <a:ln w="19050">
            <a:solidFill>
              <a:srgbClr val="14B8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20840" y="2354580"/>
            <a:ext cx="640080" cy="640080"/>
          </a:xfrm>
          <a:prstGeom prst="ellipse">
            <a:avLst/>
          </a:prstGeom>
          <a:solidFill>
            <a:srgbClr val="14B8C8">
              <a:alpha val="70000"/>
            </a:srgbClr>
          </a:solidFill>
          <a:ln w="12700">
            <a:solidFill>
              <a:srgbClr val="14B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12280" y="24003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94960" y="29946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4B8C8"/>
                </a:solidFill>
              </a:rPr>
              <a:t>Windows 95 Interface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49240" y="45720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9AA"/>
                </a:solidFill>
              </a:rPr>
              <a:t>[ Replace with image ]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79992" y="0"/>
            <a:ext cx="64008" cy="514350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6400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World Wide Web — A New Kind of Interface (1991)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" y="914400"/>
            <a:ext cx="3566160" cy="3977640"/>
          </a:xfrm>
          <a:prstGeom prst="rect">
            <a:avLst/>
          </a:prstGeom>
          <a:solidFill>
            <a:srgbClr val="0A2535"/>
          </a:solidFill>
          <a:ln w="19050">
            <a:solidFill>
              <a:srgbClr val="14B8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00200" y="2354580"/>
            <a:ext cx="640080" cy="640080"/>
          </a:xfrm>
          <a:prstGeom prst="ellipse">
            <a:avLst/>
          </a:prstGeom>
          <a:solidFill>
            <a:srgbClr val="14B8C8">
              <a:alpha val="70000"/>
            </a:srgbClr>
          </a:solidFill>
          <a:ln w="12700">
            <a:solidFill>
              <a:srgbClr val="14B8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24003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🖼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29946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4B8C8"/>
                </a:solidFill>
              </a:rPr>
              <a:t>Early Web Browser — Mosaic/Netscape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" y="45720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9AA"/>
                </a:solidFill>
              </a:rPr>
              <a:t>[ Replace with image ]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931920" y="96012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Berners-Lee invented the Web in 1991 at CERN.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 like Mosaic (1993) and Netscape gave the Web a visual face.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Hyperlinks created a non-linear, explorable information space.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&amp; CSS enabled designers to craft rich visual pages.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 democratized information access and redefined HCI at scale.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6400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Touchscreens &amp; the Mobile Revolution — 2000s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96012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Touchscreens existed earlier, but the iPhone (2007) redefined them.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Multi-touch gestures (pinch, swipe, tap) became natural interactions.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design forced rethinking of layout, typography, and navigation.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stores created a new ecosystem of purpose-built touch interfaces.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2010, touch had overtaken the keyboard-and-mouse for billions of users.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257800" y="914400"/>
            <a:ext cx="3566160" cy="3977640"/>
          </a:xfrm>
          <a:prstGeom prst="rect">
            <a:avLst/>
          </a:prstGeom>
          <a:solidFill>
            <a:srgbClr val="0D2030"/>
          </a:solidFill>
          <a:ln w="19050">
            <a:solidFill>
              <a:srgbClr val="14B8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20840" y="2354580"/>
            <a:ext cx="640080" cy="640080"/>
          </a:xfrm>
          <a:prstGeom prst="ellipse">
            <a:avLst/>
          </a:prstGeom>
          <a:solidFill>
            <a:srgbClr val="14B8C8">
              <a:alpha val="70000"/>
            </a:srgbClr>
          </a:solidFill>
          <a:ln w="12700">
            <a:solidFill>
              <a:srgbClr val="14B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12280" y="24003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94960" y="29946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4B8C8"/>
                </a:solidFill>
              </a:rPr>
              <a:t>iPhone 2007 — Multi-Touch Interface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49240" y="45720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9AA"/>
                </a:solidFill>
              </a:rPr>
              <a:t>[ Replace with image ]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E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79992" y="0"/>
            <a:ext cx="64008" cy="514350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6400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&amp; Natural Language Interfaces — 2010s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" y="914400"/>
            <a:ext cx="3566160" cy="3977640"/>
          </a:xfrm>
          <a:prstGeom prst="rect">
            <a:avLst/>
          </a:prstGeom>
          <a:solidFill>
            <a:srgbClr val="0C1E2E"/>
          </a:solidFill>
          <a:ln w="19050">
            <a:solidFill>
              <a:srgbClr val="14B8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00200" y="2354580"/>
            <a:ext cx="640080" cy="640080"/>
          </a:xfrm>
          <a:prstGeom prst="ellipse">
            <a:avLst/>
          </a:prstGeom>
          <a:solidFill>
            <a:srgbClr val="14B8C8">
              <a:alpha val="70000"/>
            </a:srgbClr>
          </a:solidFill>
          <a:ln w="12700">
            <a:solidFill>
              <a:srgbClr val="14B8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24003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🖼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29946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4B8C8"/>
                </a:solidFill>
              </a:rPr>
              <a:t>Voice Assistants — Siri, Alexa, Google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" y="45720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9AA"/>
                </a:solidFill>
              </a:rPr>
              <a:t>[ Replace with image ]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931920" y="96012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 (2011), Google Now (2012), and Alexa (2014) made voice mainstream.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 Language Processing allowed computers to understand spoken intent.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Hands-free computing opened new contexts: cars, kitchens, accessibility.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Conversational UI shifted design focus from screens to dialogue flows.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assistants introduced persistent, ambient computing in the home.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E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6400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Augmented &amp; Virtual Reality — 2010s to 2020s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96012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Oculus Rift (2016) and HTC Vive popularized immersive VR environments.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overlays digital information onto the real world (e.g., Pokémon GO, 2016).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and gaze-based controls replaced the traditional mouse in 3D spaces.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computing introduced 3D UIs, holographic displays, and depth sensing.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Apple Vision Pro (2024) re-introduced spatial computing to the mainstream.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257800" y="914400"/>
            <a:ext cx="3566160" cy="3977640"/>
          </a:xfrm>
          <a:prstGeom prst="rect">
            <a:avLst/>
          </a:prstGeom>
          <a:solidFill>
            <a:srgbClr val="0A1A2A"/>
          </a:solidFill>
          <a:ln w="19050">
            <a:solidFill>
              <a:srgbClr val="14B8C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20840" y="2354580"/>
            <a:ext cx="640080" cy="640080"/>
          </a:xfrm>
          <a:prstGeom prst="ellipse">
            <a:avLst/>
          </a:prstGeom>
          <a:solidFill>
            <a:srgbClr val="14B8C8">
              <a:alpha val="70000"/>
            </a:srgbClr>
          </a:solidFill>
          <a:ln w="12700">
            <a:solidFill>
              <a:srgbClr val="14B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12280" y="24003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394960" y="29946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4B8C8"/>
                </a:solidFill>
              </a:rPr>
              <a:t>VR/AR Headsets &amp; Spatial Interface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349240" y="45720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9AA"/>
                </a:solidFill>
              </a:rPr>
              <a:t>[ Replace with image ]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EE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79992" y="0"/>
            <a:ext cx="64008" cy="514350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6400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Interfaces — The 2020s Revolution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" y="914400"/>
            <a:ext cx="3566160" cy="3977640"/>
          </a:xfrm>
          <a:prstGeom prst="rect">
            <a:avLst/>
          </a:prstGeom>
          <a:solidFill>
            <a:srgbClr val="081524"/>
          </a:solidFill>
          <a:ln w="19050">
            <a:solidFill>
              <a:srgbClr val="14B8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00200" y="2354580"/>
            <a:ext cx="640080" cy="640080"/>
          </a:xfrm>
          <a:prstGeom prst="ellipse">
            <a:avLst/>
          </a:prstGeom>
          <a:solidFill>
            <a:srgbClr val="14B8C8">
              <a:alpha val="70000"/>
            </a:srgbClr>
          </a:solidFill>
          <a:ln w="12700">
            <a:solidFill>
              <a:srgbClr val="14B8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24003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🖼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29946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4B8C8"/>
                </a:solidFill>
              </a:rPr>
              <a:t>AI Chatbots &amp; Generative Interfaces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" y="45720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9AA"/>
                </a:solidFill>
              </a:rPr>
              <a:t>[ Replace with image ]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931920" y="96012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 Language Models (LLMs) like GPT-4 enabled conversational computing.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Chatbots moved beyond scripted menus to open-ended natural dialogue.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co-pilots (GitHub Copilot, Claude, Gemini) embedded AI into daily workflows.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 can create images, code, and documents from plain text prompts.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itself became a conversation — blurring tool and collaborator.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E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" y="0"/>
            <a:ext cx="9079992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6400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HCI Design Principles Across History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82880" y="960120"/>
            <a:ext cx="48463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Learnability: How quickly can a new user accomplish basic tasks?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Efficiency: How fast can experienced users work after learning the system?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Memorability: How easy is it to return after a period of not using it?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tolerance: How well does the system prevent and recover from errors?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Satisfaction: Is the experience pleasant and engaging for the user?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" y="47548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9AA"/>
                </a:solidFill>
              </a:rPr>
              <a:t>Based on Jakob Nielsen's 10 Usability Heuristics (1994)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257800" y="914400"/>
            <a:ext cx="3566160" cy="3977640"/>
          </a:xfrm>
          <a:prstGeom prst="rect">
            <a:avLst/>
          </a:prstGeom>
          <a:solidFill>
            <a:srgbClr val="143048"/>
          </a:solidFill>
          <a:ln w="19050">
            <a:solidFill>
              <a:srgbClr val="14B8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20840" y="2354580"/>
            <a:ext cx="640080" cy="640080"/>
          </a:xfrm>
          <a:prstGeom prst="ellipse">
            <a:avLst/>
          </a:prstGeom>
          <a:solidFill>
            <a:srgbClr val="14B8C8">
              <a:alpha val="70000"/>
            </a:srgbClr>
          </a:solidFill>
          <a:ln w="12700">
            <a:solidFill>
              <a:srgbClr val="14B8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12280" y="24003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🖼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394960" y="29946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4B8C8"/>
                </a:solidFill>
              </a:rPr>
              <a:t>Nielsen's Usability Principles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49240" y="45720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9AA"/>
                </a:solidFill>
              </a:rPr>
              <a:t>[ Replace with image ]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91440"/>
            <a:ext cx="8595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Evolution at a Glance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28600" y="1280160"/>
            <a:ext cx="1005840" cy="1828800"/>
          </a:xfrm>
          <a:prstGeom prst="rect">
            <a:avLst/>
          </a:prstGeom>
          <a:solidFill>
            <a:srgbClr val="1B4F72"/>
          </a:solidFill>
          <a:ln w="6350">
            <a:solidFill>
              <a:srgbClr val="14B8C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3716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B84B"/>
                </a:solidFill>
              </a:rPr>
              <a:t>1940s–50s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228600" y="1847088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Batch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Processing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1252728" y="1280160"/>
            <a:ext cx="1005840" cy="1828800"/>
          </a:xfrm>
          <a:prstGeom prst="rect">
            <a:avLst/>
          </a:prstGeom>
          <a:solidFill>
            <a:srgbClr val="1A5276"/>
          </a:solidFill>
          <a:ln w="6350">
            <a:solidFill>
              <a:srgbClr val="14B8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52728" y="13716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B84B"/>
                </a:solidFill>
              </a:rPr>
              <a:t>1960s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252728" y="1847088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Command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Line (CLI)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76856" y="1280160"/>
            <a:ext cx="1005840" cy="1828800"/>
          </a:xfrm>
          <a:prstGeom prst="rect">
            <a:avLst/>
          </a:prstGeom>
          <a:solidFill>
            <a:srgbClr val="154360"/>
          </a:solidFill>
          <a:ln w="6350">
            <a:solidFill>
              <a:srgbClr val="14B8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276856" y="13716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B84B"/>
                </a:solidFill>
              </a:rPr>
              <a:t>1970s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276856" y="1847088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GUI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Xerox PARC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300984" y="1280160"/>
            <a:ext cx="1005840" cy="1828800"/>
          </a:xfrm>
          <a:prstGeom prst="rect">
            <a:avLst/>
          </a:prstGeom>
          <a:solidFill>
            <a:srgbClr val="1F618D"/>
          </a:solidFill>
          <a:ln w="6350">
            <a:solidFill>
              <a:srgbClr val="14B8C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00984" y="13716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B84B"/>
                </a:solidFill>
              </a:rPr>
              <a:t>1980s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300984" y="1847088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Mac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Windows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325112" y="1280160"/>
            <a:ext cx="1005840" cy="1828800"/>
          </a:xfrm>
          <a:prstGeom prst="rect">
            <a:avLst/>
          </a:prstGeom>
          <a:solidFill>
            <a:srgbClr val="21618C"/>
          </a:solidFill>
          <a:ln w="6350">
            <a:solidFill>
              <a:srgbClr val="14B8C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325112" y="13716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B84B"/>
                </a:solidFill>
              </a:rPr>
              <a:t>1990s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325112" y="1847088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World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Wide Web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349240" y="1280160"/>
            <a:ext cx="1005840" cy="1828800"/>
          </a:xfrm>
          <a:prstGeom prst="rect">
            <a:avLst/>
          </a:prstGeom>
          <a:solidFill>
            <a:srgbClr val="1A6A8A"/>
          </a:solidFill>
          <a:ln w="6350">
            <a:solidFill>
              <a:srgbClr val="14B8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349240" y="13716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B84B"/>
                </a:solidFill>
              </a:rPr>
              <a:t>2000s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349240" y="1847088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Touchscreen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Mobile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73368" y="1280160"/>
            <a:ext cx="1005840" cy="1828800"/>
          </a:xfrm>
          <a:prstGeom prst="rect">
            <a:avLst/>
          </a:prstGeom>
          <a:solidFill>
            <a:srgbClr val="148F77"/>
          </a:solidFill>
          <a:ln w="6350">
            <a:solidFill>
              <a:srgbClr val="14B8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73368" y="13716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B84B"/>
                </a:solidFill>
              </a:rPr>
              <a:t>2010s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373368" y="1847088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Voice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AR/VR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397496" y="1280160"/>
            <a:ext cx="1005840" cy="1828800"/>
          </a:xfrm>
          <a:prstGeom prst="rect">
            <a:avLst/>
          </a:prstGeom>
          <a:solidFill>
            <a:srgbClr val="0E7251"/>
          </a:solidFill>
          <a:ln w="6350">
            <a:solidFill>
              <a:srgbClr val="14B8C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97496" y="137160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E8B84B"/>
                </a:solidFill>
              </a:rPr>
              <a:t>2020s+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7397496" y="1847088"/>
            <a:ext cx="10058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AI &amp;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Conv. UI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28600" y="3273552"/>
            <a:ext cx="8659368" cy="54864"/>
          </a:xfrm>
          <a:prstGeom prst="rect">
            <a:avLst/>
          </a:prstGeom>
          <a:solidFill>
            <a:srgbClr val="14B8C8"/>
          </a:solidFill>
          <a:ln w="12700">
            <a:solidFill>
              <a:srgbClr val="14B8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0F4F8"/>
                </a:solidFill>
              </a:rPr>
              <a:t>The interface evolves as technology, culture, and human needs change.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EEF4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79992" y="0"/>
            <a:ext cx="64008" cy="514350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1B2A4A"/>
          </a:solidFill>
          <a:ln w="12700">
            <a:solidFill>
              <a:srgbClr val="1B2A4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28600" y="64008"/>
            <a:ext cx="8686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Human-Computer Interaction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37160" y="914400"/>
            <a:ext cx="3566160" cy="3977640"/>
          </a:xfrm>
          <a:prstGeom prst="rect">
            <a:avLst/>
          </a:prstGeom>
          <a:solidFill>
            <a:srgbClr val="081A2E"/>
          </a:solidFill>
          <a:ln w="19050">
            <a:solidFill>
              <a:srgbClr val="14B8C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00200" y="2354580"/>
            <a:ext cx="640080" cy="640080"/>
          </a:xfrm>
          <a:prstGeom prst="ellipse">
            <a:avLst/>
          </a:prstGeom>
          <a:solidFill>
            <a:srgbClr val="14B8C8">
              <a:alpha val="70000"/>
            </a:srgbClr>
          </a:solidFill>
          <a:ln w="12700">
            <a:solidFill>
              <a:srgbClr val="14B8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691640" y="24003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🖼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74320" y="29946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14B8C8"/>
                </a:solidFill>
              </a:rPr>
              <a:t>Future HCI — Neural &amp; Ambient Interfaces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28600" y="4572000"/>
            <a:ext cx="3383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i="1" dirty="0">
                <a:solidFill>
                  <a:srgbClr val="8899AA"/>
                </a:solidFill>
              </a:rPr>
              <a:t>[ Replace with image ]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931920" y="960120"/>
            <a:ext cx="49377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Brain-Computer Interfaces (BCI): direct neural control of devices (Neuralink, 2024).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Ambient computing: invisible interfaces embedded in environments.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Emotionally intelligent systems that adapt to user mood and context.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HCI: designing for accessibility, privacy, and inclusivity.</a:t>
            </a:r>
            <a:endParaRPr lang="en-US" sz="1300" dirty="0"/>
          </a:p>
          <a:p>
            <a:pPr marL="342900" indent="-342900">
              <a:lnSpc>
                <a:spcPct val="120000"/>
              </a:lnSpc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frontier: interfaces that understand intent before a word is spoken.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A7E8C"/>
          </a:solidFill>
          <a:ln w="12700">
            <a:solidFill>
              <a:srgbClr val="0A7E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09728"/>
            <a:ext cx="8412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1097280"/>
            <a:ext cx="82296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has transformed from machine-centric punch cards to human-centric AI conversations.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era brought new metaphors: batch → command → desktop → web → touch → voice → AI.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interface design reduces cognitive load and empowers users of all abilities.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is not just technical — it is deeply human, cultural, and ethical.</a:t>
            </a:r>
            <a:endParaRPr lang="en-US" sz="1400" dirty="0"/>
          </a:p>
          <a:p>
            <a:pPr marL="342900" indent="-342900">
              <a:lnSpc>
                <a:spcPct val="125000"/>
              </a:lnSpc>
              <a:spcAft>
                <a:spcPts val="500"/>
              </a:spcAft>
              <a:buSzPct val="100000"/>
              <a:buChar char="•"/>
            </a:pPr>
            <a:r>
              <a:rPr lang="en-US" sz="1400" dirty="0">
                <a:solidFill>
                  <a:srgbClr val="F0F4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technology accelerates, thoughtful HCI design becomes more critical than ever.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E8B84B"/>
                </a:solidFill>
              </a:rPr>
              <a:t>Thank you — Questions?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History of Human-Computer Interface</dc:title>
  <dc:subject>PptxGenJS Presentation</dc:subject>
  <dc:creator>HCI Presentation</dc:creator>
  <cp:lastModifiedBy>HCI Presentation</cp:lastModifiedBy>
  <cp:revision>1</cp:revision>
  <dcterms:created xsi:type="dcterms:W3CDTF">2026-05-26T03:17:38Z</dcterms:created>
  <dcterms:modified xsi:type="dcterms:W3CDTF">2026-05-26T03:17:38Z</dcterms:modified>
</cp:coreProperties>
</file>